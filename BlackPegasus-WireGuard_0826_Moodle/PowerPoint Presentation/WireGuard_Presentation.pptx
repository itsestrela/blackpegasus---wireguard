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1_5A900B67.xml" ContentType="application/vnd.ms-powerpoint.comments+xml"/>
  <Override PartName="/ppt/comments/modernComment_103_46EC289A.xml" ContentType="application/vnd.ms-powerpoint.comments+xml"/>
  <Override PartName="/ppt/comments/modernComment_104_560FC63A.xml" ContentType="application/vnd.ms-powerpoint.comments+xml"/>
  <Override PartName="/ppt/comments/modernComment_105_20014B04.xml" ContentType="application/vnd.ms-powerpoint.comments+xml"/>
  <Override PartName="/ppt/comments/modernComment_107_DAFAAF55.xml" ContentType="application/vnd.ms-powerpoint.comments+xml"/>
  <Override PartName="/ppt/comments/modernComment_108_1314F4FA.xml" ContentType="application/vnd.ms-powerpoint.comments+xml"/>
  <Override PartName="/ppt/comments/modernComment_109_C315DB4D.xml" ContentType="application/vnd.ms-powerpoint.comments+xml"/>
  <Override PartName="/ppt/comments/modernComment_10D_A08A0A1E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9B94BB-2A83-5ECF-B258-FFA2D1E32CB2}" name="Ian Miguel de Freitas Rebelo" initials="IR" userId="S::ian.rebelo.t0130772@edu.atec.pt::ffcb09ce-c596-45aa-a607-44ea3b8c50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317517-4DA2-0FF3-A1ED-544188D1F3D0}" v="1927" dt="2026-01-11T22:01:06.901"/>
    <p1510:client id="{EC8E51FC-7A7B-699B-BB62-C4A4657117F7}" v="63" dt="2026-01-13T09:25:57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D_A08A0A1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84C46CE-71EA-4627-A07B-883F2ACF7C8B}" authorId="{DD9B94BB-2A83-5ECF-B258-FFA2D1E32CB2}" created="2026-01-11T21:29:47.87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93401118" sldId="269"/>
      <ac:spMk id="3" creationId="{5E4F5A1A-767A-1C68-792C-A86ABF68F533}"/>
    </ac:deMkLst>
    <p188:txBody>
      <a:bodyPr/>
      <a:lstStyle/>
      <a:p>
        <a:r>
          <a:rPr lang="en-GB"/>
          <a:t>Instrumentos de Avaliação KAHOOT - Kahoot! https://create.kahoot.it/share/redes-wireguard-quiz/121af377-fb80-43ef-9c36-ba4fdd38ec26 </a:t>
        </a:r>
      </a:p>
    </p188:txBody>
  </p188:cm>
</p188:cmLst>
</file>

<file path=ppt/comments/modernComment_101_5A900B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861ABC-782C-4F4C-988F-40F7B814C31D}" authorId="{DD9B94BB-2A83-5ECF-B258-FFA2D1E32CB2}" created="2026-01-11T20:13:17.822">
    <pc:sldMkLst xmlns:pc="http://schemas.microsoft.com/office/powerpoint/2013/main/command">
      <pc:docMk/>
      <pc:sldMk cId="1519389543" sldId="257"/>
    </pc:sldMkLst>
    <p188:txBody>
      <a:bodyPr/>
      <a:lstStyle/>
      <a:p>
        <a:r>
          <a:rPr lang="en-GB"/>
          <a:t>O que é uma VPN?
Uma VPN (Virtual Private Network) é uma tecnologia que cria uma ligação segura e encriptada pela Internet, permitindo aceder a uma rede privada como se estivesses fisicamente nela.</a:t>
        </a:r>
      </a:p>
    </p188:txBody>
  </p188:cm>
</p188:cmLst>
</file>

<file path=ppt/comments/modernComment_103_46EC28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744537-9260-4579-9A9D-5F34B4FA16E9}" authorId="{DD9B94BB-2A83-5ECF-B258-FFA2D1E32CB2}" created="2026-01-11T20:31:40.264">
    <pc:sldMkLst xmlns:pc="http://schemas.microsoft.com/office/powerpoint/2013/main/command">
      <pc:docMk/>
      <pc:sldMk cId="1189882010" sldId="259"/>
    </pc:sldMkLst>
    <p188:txBody>
      <a:bodyPr/>
      <a:lstStyle/>
      <a:p>
        <a:r>
          <a:rPr lang="en-GB"/>
          <a:t>Peer-to-Peer - É uma ligação Cliente Servidor ou Servidor Cliente.</a:t>
        </a:r>
      </a:p>
    </p188:txBody>
  </p188:cm>
  <p188:cm id="{D08E0D7B-2DAF-4495-AE51-AFBE9DB89AFA}" authorId="{DD9B94BB-2A83-5ECF-B258-FFA2D1E32CB2}" created="2026-01-11T20:37:43.4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189882010" sldId="259"/>
      <ac:spMk id="3" creationId="{874E7A1C-AF83-0342-D4AD-AAD359404864}"/>
      <ac:txMk cp="0" len="79">
        <ac:context len="329" hash="4091436381"/>
      </ac:txMk>
    </ac:txMkLst>
    <p188:pos x="2984500" y="560916"/>
    <p188:txBody>
      <a:bodyPr/>
      <a:lstStyle/>
      <a:p>
        <a:r>
          <a:rPr lang="en-GB"/>
          <a:t>Curve25519 → troca segura de chaves (define como as chaves são combinadas)
ChaCha20 → encriptação dos dados
Poly1305 → garante integridade e autenticação dos dados
BLAKE2s → função de hash (verifica integridade)
SipHash24 → proteção contra ataques de hash
HKDF → derivação segura de chaves</a:t>
        </a:r>
      </a:p>
    </p188:txBody>
  </p188:cm>
</p188:cmLst>
</file>

<file path=ppt/comments/modernComment_104_560FC63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0BB3FE-598D-49E3-A48F-F5084F5491E9}" authorId="{DD9B94BB-2A83-5ECF-B258-FFA2D1E32CB2}" created="2026-01-11T20:32:40.188">
    <pc:sldMkLst xmlns:pc="http://schemas.microsoft.com/office/powerpoint/2013/main/command">
      <pc:docMk/>
      <pc:sldMk cId="1443874362" sldId="260"/>
    </pc:sldMkLst>
    <p188:txBody>
      <a:bodyPr/>
      <a:lstStyle/>
      <a:p>
        <a:r>
          <a:rPr lang="en-GB"/>
          <a:t>Cada dispositivo gera duas chaves:
🔓 Chave pública → é partilhada com o outro dispositivo
🔒 Chave privada → fica secreta e nunca é partilhada
Os dispositivos reconhecem-se pela chave pública, e a chave privada é usada para provar que aquele dispositivo é mesmo quem diz ser, sem nunca ser enviada.
👉 Eles não “enviam” a chave privada.
 Ela é usada apenas localmente para autenticar e encriptar a comunicação.</a:t>
        </a:r>
      </a:p>
    </p188:txBody>
  </p188:cm>
</p188:cmLst>
</file>

<file path=ppt/comments/modernComment_105_20014B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00645C-D7FA-4F36-BEC5-EABA758451B6}" authorId="{DD9B94BB-2A83-5ECF-B258-FFA2D1E32CB2}" created="2026-01-11T20:42:24.370">
    <pc:sldMkLst xmlns:pc="http://schemas.microsoft.com/office/powerpoint/2013/main/command">
      <pc:docMk/>
      <pc:sldMk cId="536955652" sldId="261"/>
    </pc:sldMkLst>
    <p188:txBody>
      <a:bodyPr/>
      <a:lstStyle/>
      <a:p>
        <a:r>
          <a:rPr lang="en-GB"/>
          <a:t>Compatível com S.O. - Linux, Windows, macOS, iOS e Android</a:t>
        </a:r>
      </a:p>
    </p188:txBody>
  </p188:cm>
</p188:cmLst>
</file>

<file path=ppt/comments/modernComment_107_DAFAAF5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A775C9-2387-47CB-9B39-21544EC1AA62}" authorId="{DD9B94BB-2A83-5ECF-B258-FFA2D1E32CB2}" created="2026-01-11T21:06:12.812">
    <pc:sldMkLst xmlns:pc="http://schemas.microsoft.com/office/powerpoint/2013/main/command">
      <pc:docMk/>
      <pc:sldMk cId="3673861973" sldId="263"/>
    </pc:sldMkLst>
    <p188:txBody>
      <a:bodyPr/>
      <a:lstStyle/>
      <a:p>
        <a:r>
          <a:rPr lang="en-GB"/>
          <a:t>/28
14 Hosts Utilizáveis</a:t>
        </a:r>
      </a:p>
    </p188:txBody>
  </p188:cm>
</p188:cmLst>
</file>

<file path=ppt/comments/modernComment_108_1314F4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EB979C-F301-4F42-8D8B-99837D3AC03E}" authorId="{DD9B94BB-2A83-5ECF-B258-FFA2D1E32CB2}" created="2026-01-11T21:18:06.698">
    <pc:sldMkLst xmlns:pc="http://schemas.microsoft.com/office/powerpoint/2013/main/command">
      <pc:docMk/>
      <pc:sldMk cId="320140538" sldId="264"/>
    </pc:sldMkLst>
    <p188:txBody>
      <a:bodyPr/>
      <a:lstStyle/>
      <a:p>
        <a:r>
          <a:rPr lang="en-GB"/>
          <a:t>Mostra o WireGuard ativo tanto no Cliente como no Servidor. 
Dizer que o Cliente pinga o Servidor no CMD.</a:t>
        </a:r>
      </a:p>
    </p188:txBody>
  </p188:cm>
</p188:cmLst>
</file>

<file path=ppt/comments/modernComment_109_C315DB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E32B87-47F2-4229-82B4-F4B256836854}" authorId="{DD9B94BB-2A83-5ECF-B258-FFA2D1E32CB2}" created="2026-01-11T21:18:25.558">
    <pc:sldMkLst xmlns:pc="http://schemas.microsoft.com/office/powerpoint/2013/main/command">
      <pc:docMk/>
      <pc:sldMk cId="3272989517" sldId="265"/>
    </pc:sldMkLst>
    <p188:txBody>
      <a:bodyPr/>
      <a:lstStyle/>
      <a:p>
        <a:r>
          <a:rPr lang="en-GB"/>
          <a:t>Falar sobre a conexão ter sido bem sucedida, print do Cliente conectado e print do Servidor a mostrar o Cliente e a conexão na Consola do Servidor.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200B3F0-A9BC-48CE-8EB6-ECE965069900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4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27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4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78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59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4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39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2683-E6E7-4CC3-9EEE-7854DD4F3545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92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20F81-B39D-4CBB-8BF3-5D6E395D0F72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1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FFFF-3106-4DDB-AA62-0C80862170D6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506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38B7-AE95-4DC8-9A51-7A71F545B098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645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EC2B-8188-4AC2-9F0D-8D09C51D505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44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B75E-944F-430B-BE5F-C69FA8823C04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906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821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4C9D-4618-451D-80C1-6A376BB42AB4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152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553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01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4B320A-89BA-47B2-A525-92E8D10B06E4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26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5A900B67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46EC289A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560FC63A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20014B0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7_DAFAAF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08_1314F4FA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109_C315DB4D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0D_A08A0A1E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6000" b="1" err="1"/>
              <a:t>WireGuard</a:t>
            </a:r>
            <a:br>
              <a:rPr lang="en-GB" dirty="0"/>
            </a:br>
            <a:r>
              <a:rPr lang="en-GB" sz="3500" dirty="0"/>
              <a:t>0826 – Redes - </a:t>
            </a:r>
            <a:r>
              <a:rPr lang="en-GB" sz="3500" err="1"/>
              <a:t>Instalação</a:t>
            </a:r>
            <a:r>
              <a:rPr lang="en-GB" sz="3500" dirty="0"/>
              <a:t> e </a:t>
            </a:r>
            <a:r>
              <a:rPr lang="en-GB" sz="3500" err="1"/>
              <a:t>Configuração</a:t>
            </a:r>
            <a:endParaRPr lang="en-GB" sz="35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FFFF00"/>
                </a:solidFill>
              </a:rPr>
              <a:t>Daniel </a:t>
            </a:r>
            <a:r>
              <a:rPr lang="en-GB" b="1" err="1">
                <a:solidFill>
                  <a:srgbClr val="FFFF00"/>
                </a:solidFill>
              </a:rPr>
              <a:t>amador</a:t>
            </a:r>
            <a:r>
              <a:rPr lang="en-GB" b="1" dirty="0">
                <a:solidFill>
                  <a:srgbClr val="FFFF00"/>
                </a:solidFill>
              </a:rPr>
              <a:t> – t0133582</a:t>
            </a:r>
            <a:br>
              <a:rPr lang="en-GB" b="1" dirty="0">
                <a:solidFill>
                  <a:srgbClr val="FFFF00"/>
                </a:solidFill>
              </a:rPr>
            </a:br>
            <a:r>
              <a:rPr lang="en-GB" b="1" err="1">
                <a:solidFill>
                  <a:srgbClr val="FFFF00"/>
                </a:solidFill>
              </a:rPr>
              <a:t>ian</a:t>
            </a:r>
            <a:r>
              <a:rPr lang="en-GB" b="1" dirty="0">
                <a:solidFill>
                  <a:srgbClr val="FFFF00"/>
                </a:solidFill>
              </a:rPr>
              <a:t> </a:t>
            </a:r>
            <a:r>
              <a:rPr lang="en-GB" b="1" err="1">
                <a:solidFill>
                  <a:srgbClr val="FFFF00"/>
                </a:solidFill>
              </a:rPr>
              <a:t>rebelo</a:t>
            </a:r>
            <a:r>
              <a:rPr lang="en-GB" b="1" dirty="0">
                <a:solidFill>
                  <a:srgbClr val="FFFF00"/>
                </a:solidFill>
              </a:rPr>
              <a:t> - t0130772</a:t>
            </a:r>
          </a:p>
        </p:txBody>
      </p:sp>
      <p:pic>
        <p:nvPicPr>
          <p:cNvPr id="4" name="Picture 3" descr="A white dragon on a red background&#10;&#10;AI-generated content may be incorrect.">
            <a:extLst>
              <a:ext uri="{FF2B5EF4-FFF2-40B4-BE49-F238E27FC236}">
                <a16:creationId xmlns:a16="http://schemas.microsoft.com/office/drawing/2014/main" id="{5A40D494-444F-7E30-B81F-C8F36A133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125" y="1407409"/>
            <a:ext cx="2250432" cy="230698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14569FBB-975B-F7AC-2DFE-B22E65546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51" y="4929368"/>
            <a:ext cx="2409825" cy="83820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C4B6B-85EC-E388-95DC-5CE3F80D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Introdução</a:t>
            </a:r>
            <a:r>
              <a:rPr lang="en-GB" dirty="0"/>
              <a:t>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D1BCD-8292-E688-2122-A6DB456EC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Alguém</a:t>
            </a:r>
            <a:r>
              <a:rPr lang="en-GB" dirty="0"/>
              <a:t> sabe o </a:t>
            </a:r>
            <a:r>
              <a:rPr lang="en-GB" dirty="0" err="1"/>
              <a:t>que</a:t>
            </a:r>
            <a:r>
              <a:rPr lang="en-GB" dirty="0"/>
              <a:t> é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b="1" dirty="0"/>
              <a:t>VPN?</a:t>
            </a:r>
          </a:p>
          <a:p>
            <a:endParaRPr lang="en-GB" dirty="0"/>
          </a:p>
          <a:p>
            <a:r>
              <a:rPr lang="en-GB" dirty="0"/>
              <a:t>Com o </a:t>
            </a:r>
            <a:r>
              <a:rPr lang="en-GB" dirty="0" err="1"/>
              <a:t>crescimento</a:t>
            </a:r>
            <a:r>
              <a:rPr lang="en-GB" dirty="0"/>
              <a:t> do </a:t>
            </a:r>
            <a:r>
              <a:rPr lang="en-GB" dirty="0" err="1"/>
              <a:t>trabalho</a:t>
            </a:r>
            <a:r>
              <a:rPr lang="en-GB" dirty="0"/>
              <a:t> </a:t>
            </a:r>
            <a:r>
              <a:rPr lang="en-GB" dirty="0" err="1"/>
              <a:t>remoto</a:t>
            </a:r>
            <a:r>
              <a:rPr lang="en-GB" dirty="0"/>
              <a:t> e para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seja</a:t>
            </a:r>
            <a:r>
              <a:rPr lang="en-GB" dirty="0"/>
              <a:t> </a:t>
            </a:r>
            <a:r>
              <a:rPr lang="en-GB" dirty="0" err="1"/>
              <a:t>seguro</a:t>
            </a:r>
            <a:r>
              <a:rPr lang="en-GB" dirty="0"/>
              <a:t> o </a:t>
            </a:r>
            <a:r>
              <a:rPr lang="en-GB" dirty="0" err="1"/>
              <a:t>uso</a:t>
            </a:r>
            <a:r>
              <a:rPr lang="en-GB" dirty="0"/>
              <a:t> de </a:t>
            </a:r>
            <a:r>
              <a:rPr lang="en-GB" dirty="0" err="1"/>
              <a:t>uma</a:t>
            </a:r>
            <a:r>
              <a:rPr lang="en-GB" dirty="0"/>
              <a:t> </a:t>
            </a:r>
            <a:r>
              <a:rPr lang="en-GB" b="1" dirty="0"/>
              <a:t>VPN </a:t>
            </a:r>
            <a:r>
              <a:rPr lang="en-GB" dirty="0"/>
              <a:t>é </a:t>
            </a:r>
            <a:r>
              <a:rPr lang="en-GB" dirty="0" err="1"/>
              <a:t>essencial</a:t>
            </a:r>
            <a:r>
              <a:rPr lang="en-GB" dirty="0"/>
              <a:t>!</a:t>
            </a:r>
          </a:p>
          <a:p>
            <a:endParaRPr lang="en-GB" dirty="0"/>
          </a:p>
          <a:p>
            <a:r>
              <a:rPr lang="en-GB" dirty="0"/>
              <a:t>No </a:t>
            </a:r>
            <a:r>
              <a:rPr lang="en-GB" dirty="0" err="1"/>
              <a:t>nosso</a:t>
            </a:r>
            <a:r>
              <a:rPr lang="en-GB" dirty="0"/>
              <a:t> </a:t>
            </a:r>
            <a:r>
              <a:rPr lang="en-GB" dirty="0" err="1"/>
              <a:t>trabalho</a:t>
            </a:r>
            <a:r>
              <a:rPr lang="en-GB" dirty="0"/>
              <a:t> </a:t>
            </a:r>
            <a:r>
              <a:rPr lang="en-GB" dirty="0" err="1"/>
              <a:t>vamos</a:t>
            </a:r>
            <a:r>
              <a:rPr lang="en-GB" dirty="0"/>
              <a:t> usar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b="1" dirty="0"/>
              <a:t>VPN</a:t>
            </a:r>
            <a:r>
              <a:rPr lang="en-GB" dirty="0"/>
              <a:t> </a:t>
            </a:r>
            <a:r>
              <a:rPr lang="en-GB" dirty="0" err="1"/>
              <a:t>chamada</a:t>
            </a:r>
            <a:r>
              <a:rPr lang="en-GB" dirty="0"/>
              <a:t> </a:t>
            </a:r>
            <a:r>
              <a:rPr lang="en-GB" b="1" dirty="0" err="1"/>
              <a:t>WireGuard</a:t>
            </a:r>
            <a:r>
              <a:rPr lang="en-GB" dirty="0"/>
              <a:t>, </a:t>
            </a:r>
            <a:r>
              <a:rPr lang="en-GB" dirty="0" err="1"/>
              <a:t>sendo</a:t>
            </a:r>
            <a:r>
              <a:rPr lang="en-GB" dirty="0"/>
              <a:t> </a:t>
            </a:r>
            <a:r>
              <a:rPr lang="en-GB" dirty="0" err="1"/>
              <a:t>esta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solução</a:t>
            </a:r>
            <a:r>
              <a:rPr lang="en-GB" dirty="0"/>
              <a:t> moderna de</a:t>
            </a:r>
            <a:r>
              <a:rPr lang="en-GB" b="1" dirty="0"/>
              <a:t> VPN.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3895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CA774-7985-B06A-EC2F-60FD4436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 </a:t>
            </a:r>
            <a:r>
              <a:rPr lang="en-GB" dirty="0" err="1"/>
              <a:t>que</a:t>
            </a:r>
            <a:r>
              <a:rPr lang="en-GB" dirty="0"/>
              <a:t> é o </a:t>
            </a:r>
            <a:r>
              <a:rPr lang="en-GB" dirty="0" err="1"/>
              <a:t>WireGuard</a:t>
            </a:r>
            <a:r>
              <a:rPr lang="en-GB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F8D54-FD34-CFF4-4C00-B24ABF78C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121" y="2402416"/>
            <a:ext cx="9332913" cy="42629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O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 é um </a:t>
            </a:r>
            <a:r>
              <a:rPr lang="en-GB" dirty="0" err="1">
                <a:ea typeface="+mn-lt"/>
                <a:cs typeface="+mn-lt"/>
              </a:rPr>
              <a:t>protocolo</a:t>
            </a:r>
            <a:r>
              <a:rPr lang="en-GB" dirty="0">
                <a:ea typeface="+mn-lt"/>
                <a:cs typeface="+mn-lt"/>
              </a:rPr>
              <a:t> e software </a:t>
            </a:r>
            <a:r>
              <a:rPr lang="en-GB" b="1" dirty="0">
                <a:ea typeface="+mn-lt"/>
                <a:cs typeface="+mn-lt"/>
              </a:rPr>
              <a:t>VPN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moderno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 err="1">
                <a:ea typeface="+mn-lt"/>
                <a:cs typeface="+mn-lt"/>
              </a:rPr>
              <a:t>focado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em</a:t>
            </a:r>
            <a:r>
              <a:rPr lang="en-GB" dirty="0">
                <a:ea typeface="+mn-lt"/>
                <a:cs typeface="+mn-lt"/>
              </a:rPr>
              <a:t>:</a:t>
            </a:r>
            <a:endParaRPr lang="en-GB" dirty="0"/>
          </a:p>
          <a:p>
            <a:pPr lvl="1">
              <a:buFont typeface="Courier New" charset="2"/>
              <a:buChar char="o"/>
            </a:pPr>
            <a:r>
              <a:rPr lang="en-GB" dirty="0" err="1">
                <a:ea typeface="+mn-lt"/>
                <a:cs typeface="+mn-lt"/>
              </a:rPr>
              <a:t>Simplicidade</a:t>
            </a:r>
            <a:r>
              <a:rPr lang="en-GB" dirty="0">
                <a:ea typeface="+mn-lt"/>
                <a:cs typeface="+mn-lt"/>
              </a:rPr>
              <a:t> de </a:t>
            </a:r>
            <a:r>
              <a:rPr lang="en-GB" dirty="0" err="1">
                <a:ea typeface="+mn-lt"/>
                <a:cs typeface="+mn-lt"/>
              </a:rPr>
              <a:t>código</a:t>
            </a:r>
            <a:r>
              <a:rPr lang="en-GB" dirty="0">
                <a:ea typeface="+mn-lt"/>
                <a:cs typeface="+mn-lt"/>
              </a:rPr>
              <a:t>;</a:t>
            </a:r>
            <a:endParaRPr lang="en-GB" dirty="0"/>
          </a:p>
          <a:p>
            <a:pPr lvl="1">
              <a:buFont typeface="Courier New" charset="2"/>
              <a:buChar char="o"/>
            </a:pPr>
            <a:r>
              <a:rPr lang="en-GB" dirty="0">
                <a:ea typeface="+mn-lt"/>
                <a:cs typeface="+mn-lt"/>
              </a:rPr>
              <a:t>Alta performance (</a:t>
            </a:r>
            <a:r>
              <a:rPr lang="en-GB" dirty="0" err="1">
                <a:ea typeface="+mn-lt"/>
                <a:cs typeface="+mn-lt"/>
              </a:rPr>
              <a:t>implementado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nível</a:t>
            </a:r>
            <a:r>
              <a:rPr lang="en-GB" dirty="0">
                <a:ea typeface="+mn-lt"/>
                <a:cs typeface="+mn-lt"/>
              </a:rPr>
              <a:t> do kernel </a:t>
            </a:r>
            <a:r>
              <a:rPr lang="en-GB" dirty="0" err="1">
                <a:ea typeface="+mn-lt"/>
                <a:cs typeface="+mn-lt"/>
              </a:rPr>
              <a:t>em</a:t>
            </a:r>
            <a:r>
              <a:rPr lang="en-GB" dirty="0">
                <a:ea typeface="+mn-lt"/>
                <a:cs typeface="+mn-lt"/>
              </a:rPr>
              <a:t> Linux);</a:t>
            </a:r>
            <a:endParaRPr lang="en-GB" dirty="0"/>
          </a:p>
          <a:p>
            <a:pPr lvl="1">
              <a:buFont typeface="Courier New" charset="2"/>
              <a:buChar char="o"/>
            </a:pPr>
            <a:r>
              <a:rPr lang="en-GB" dirty="0" err="1">
                <a:ea typeface="+mn-lt"/>
                <a:cs typeface="+mn-lt"/>
              </a:rPr>
              <a:t>Criptografia</a:t>
            </a:r>
            <a:r>
              <a:rPr lang="en-GB" dirty="0">
                <a:ea typeface="+mn-lt"/>
                <a:cs typeface="+mn-lt"/>
              </a:rPr>
              <a:t> de </a:t>
            </a:r>
            <a:r>
              <a:rPr lang="en-GB" dirty="0" err="1">
                <a:ea typeface="+mn-lt"/>
                <a:cs typeface="+mn-lt"/>
              </a:rPr>
              <a:t>última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geração</a:t>
            </a:r>
            <a:r>
              <a:rPr lang="en-GB" dirty="0">
                <a:ea typeface="+mn-lt"/>
                <a:cs typeface="+mn-lt"/>
              </a:rPr>
              <a:t>;</a:t>
            </a:r>
            <a:endParaRPr lang="en-GB" dirty="0"/>
          </a:p>
          <a:p>
            <a:pPr lvl="1">
              <a:buFont typeface="Courier New" charset="2"/>
              <a:buChar char="o"/>
            </a:pPr>
            <a:r>
              <a:rPr lang="en-GB" dirty="0">
                <a:ea typeface="+mn-lt"/>
                <a:cs typeface="+mn-lt"/>
              </a:rPr>
              <a:t>Baixa </a:t>
            </a:r>
            <a:r>
              <a:rPr lang="en-GB" dirty="0" err="1">
                <a:ea typeface="+mn-lt"/>
                <a:cs typeface="+mn-lt"/>
              </a:rPr>
              <a:t>latência</a:t>
            </a:r>
            <a:r>
              <a:rPr lang="en-GB" dirty="0">
                <a:ea typeface="+mn-lt"/>
                <a:cs typeface="+mn-lt"/>
              </a:rPr>
              <a:t> e </a:t>
            </a:r>
            <a:r>
              <a:rPr lang="en-GB" dirty="0" err="1">
                <a:ea typeface="+mn-lt"/>
                <a:cs typeface="+mn-lt"/>
              </a:rPr>
              <a:t>baixo</a:t>
            </a:r>
            <a:r>
              <a:rPr lang="en-GB" dirty="0">
                <a:ea typeface="+mn-lt"/>
                <a:cs typeface="+mn-lt"/>
              </a:rPr>
              <a:t> overhead;</a:t>
            </a:r>
            <a:endParaRPr lang="en-GB" dirty="0"/>
          </a:p>
          <a:p>
            <a:pPr lvl="1">
              <a:buFont typeface="Courier New" charset="2"/>
              <a:buChar char="o"/>
            </a:pPr>
            <a:r>
              <a:rPr lang="en-GB" dirty="0" err="1">
                <a:ea typeface="+mn-lt"/>
                <a:cs typeface="+mn-lt"/>
              </a:rPr>
              <a:t>Configuração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minimalista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pPr lvl="1">
              <a:buFont typeface="Courier New" charset="2"/>
              <a:buChar char="o"/>
            </a:pPr>
            <a:endParaRPr lang="en-GB" dirty="0">
              <a:ea typeface="+mn-lt"/>
              <a:cs typeface="+mn-lt"/>
            </a:endParaRPr>
          </a:p>
          <a:p>
            <a:r>
              <a:rPr lang="en-GB" err="1">
                <a:ea typeface="+mn-lt"/>
                <a:cs typeface="+mn-lt"/>
              </a:rPr>
              <a:t>Utiliza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pacotes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UDP</a:t>
            </a:r>
            <a:r>
              <a:rPr lang="en-GB" dirty="0">
                <a:ea typeface="+mn-lt"/>
                <a:cs typeface="+mn-lt"/>
              </a:rPr>
              <a:t> para </a:t>
            </a:r>
            <a:r>
              <a:rPr lang="en-GB" err="1">
                <a:ea typeface="+mn-lt"/>
                <a:cs typeface="+mn-lt"/>
              </a:rPr>
              <a:t>encapsular</a:t>
            </a:r>
            <a:r>
              <a:rPr lang="en-GB" dirty="0">
                <a:ea typeface="+mn-lt"/>
                <a:cs typeface="+mn-lt"/>
              </a:rPr>
              <a:t> o </a:t>
            </a:r>
            <a:r>
              <a:rPr lang="en-GB" err="1">
                <a:ea typeface="+mn-lt"/>
                <a:cs typeface="+mn-lt"/>
              </a:rPr>
              <a:t>tráfego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encriptado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err="1">
                <a:ea typeface="+mn-lt"/>
                <a:cs typeface="+mn-lt"/>
              </a:rPr>
              <a:t>permitindo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uma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comunicação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mais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rápida</a:t>
            </a:r>
            <a:r>
              <a:rPr lang="en-GB" dirty="0">
                <a:ea typeface="+mn-lt"/>
                <a:cs typeface="+mn-lt"/>
              </a:rPr>
              <a:t> e </a:t>
            </a:r>
            <a:r>
              <a:rPr lang="en-GB" err="1">
                <a:ea typeface="+mn-lt"/>
                <a:cs typeface="+mn-lt"/>
              </a:rPr>
              <a:t>eficiente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b="1" err="1">
                <a:ea typeface="+mn-lt"/>
                <a:cs typeface="+mn-lt"/>
              </a:rPr>
              <a:t>sem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err="1">
                <a:ea typeface="+mn-lt"/>
                <a:cs typeface="+mn-lt"/>
              </a:rPr>
              <a:t>comprometer</a:t>
            </a:r>
            <a:r>
              <a:rPr lang="en-GB" b="1" dirty="0">
                <a:ea typeface="+mn-lt"/>
                <a:cs typeface="+mn-lt"/>
              </a:rPr>
              <a:t> a </a:t>
            </a:r>
            <a:r>
              <a:rPr lang="en-GB" b="1" err="1">
                <a:ea typeface="+mn-lt"/>
                <a:cs typeface="+mn-lt"/>
              </a:rPr>
              <a:t>segurança</a:t>
            </a:r>
            <a:r>
              <a:rPr lang="en-GB" dirty="0">
                <a:ea typeface="+mn-lt"/>
                <a:cs typeface="+mn-lt"/>
              </a:rPr>
              <a:t> do </a:t>
            </a:r>
            <a:r>
              <a:rPr lang="en-GB" err="1">
                <a:ea typeface="+mn-lt"/>
                <a:cs typeface="+mn-lt"/>
              </a:rPr>
              <a:t>túnel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O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 é </a:t>
            </a:r>
            <a:r>
              <a:rPr lang="en-GB" b="1" dirty="0">
                <a:ea typeface="+mn-lt"/>
                <a:cs typeface="+mn-lt"/>
              </a:rPr>
              <a:t>Open Source</a:t>
            </a:r>
            <a:r>
              <a:rPr lang="en-GB" dirty="0">
                <a:ea typeface="+mn-lt"/>
                <a:cs typeface="+mn-lt"/>
              </a:rPr>
              <a:t> e é </a:t>
            </a:r>
            <a:r>
              <a:rPr lang="en-GB" dirty="0" err="1">
                <a:ea typeface="+mn-lt"/>
                <a:cs typeface="+mn-lt"/>
              </a:rPr>
              <a:t>suportado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nativamente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por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vários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sistemas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operativos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 err="1">
                <a:ea typeface="+mn-lt"/>
                <a:cs typeface="+mn-lt"/>
              </a:rPr>
              <a:t>como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Linux, Windows, macOS, iOS e Android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6254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898E-318D-8737-0CCD-2B6F8875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48F17-7448-F969-1550-EA277A41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Arquitetura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E7A1C-AF83-0342-D4AD-AAD359404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121" y="2973916"/>
            <a:ext cx="9332913" cy="3130549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>
              <a:buFont typeface="Courier New" charset="2"/>
              <a:buChar char="o"/>
            </a:pPr>
            <a:r>
              <a:rPr lang="en-GB" sz="2000" b="1" dirty="0" err="1">
                <a:ea typeface="+mn-lt"/>
                <a:cs typeface="+mn-lt"/>
              </a:rPr>
              <a:t>Criptografia</a:t>
            </a:r>
            <a:r>
              <a:rPr lang="en-GB" sz="2000" b="1" dirty="0">
                <a:ea typeface="+mn-lt"/>
                <a:cs typeface="+mn-lt"/>
              </a:rPr>
              <a:t> moderna:</a:t>
            </a:r>
            <a:r>
              <a:rPr lang="en-GB" sz="2000" dirty="0">
                <a:ea typeface="+mn-lt"/>
                <a:cs typeface="+mn-lt"/>
              </a:rPr>
              <a:t> Curve25519, ChaCha20, Poly1305, BLAKE2s, SipHash24, HKDF;</a:t>
            </a:r>
            <a:endParaRPr lang="en-GB" sz="2000" dirty="0"/>
          </a:p>
          <a:p>
            <a:pPr lvl="1">
              <a:buFont typeface="Courier New" charset="2"/>
              <a:buChar char="o"/>
            </a:pPr>
            <a:r>
              <a:rPr lang="en-GB" sz="2000" b="1" dirty="0">
                <a:ea typeface="+mn-lt"/>
                <a:cs typeface="+mn-lt"/>
              </a:rPr>
              <a:t>Modelo peer-to-peer: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cada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nó</a:t>
            </a:r>
            <a:r>
              <a:rPr lang="en-GB" sz="2000" dirty="0">
                <a:ea typeface="+mn-lt"/>
                <a:cs typeface="+mn-lt"/>
              </a:rPr>
              <a:t> atua </a:t>
            </a:r>
            <a:r>
              <a:rPr lang="en-GB" sz="2000" dirty="0" err="1">
                <a:ea typeface="+mn-lt"/>
                <a:cs typeface="+mn-lt"/>
              </a:rPr>
              <a:t>como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cliente</a:t>
            </a:r>
            <a:r>
              <a:rPr lang="en-GB" sz="2000" dirty="0">
                <a:ea typeface="+mn-lt"/>
                <a:cs typeface="+mn-lt"/>
              </a:rPr>
              <a:t> e </a:t>
            </a:r>
            <a:r>
              <a:rPr lang="en-GB" sz="2000" dirty="0" err="1">
                <a:ea typeface="+mn-lt"/>
                <a:cs typeface="+mn-lt"/>
              </a:rPr>
              <a:t>servidor</a:t>
            </a:r>
            <a:r>
              <a:rPr lang="en-GB" sz="2000" dirty="0">
                <a:ea typeface="+mn-lt"/>
                <a:cs typeface="+mn-lt"/>
              </a:rPr>
              <a:t>;</a:t>
            </a:r>
            <a:endParaRPr lang="en-GB" sz="2000" dirty="0"/>
          </a:p>
          <a:p>
            <a:pPr lvl="1">
              <a:buFont typeface="Courier New" charset="2"/>
              <a:buChar char="o"/>
            </a:pPr>
            <a:r>
              <a:rPr lang="en-GB" sz="2000" b="1" dirty="0">
                <a:ea typeface="+mn-lt"/>
                <a:cs typeface="+mn-lt"/>
              </a:rPr>
              <a:t>Interface virtual: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cria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uma</a:t>
            </a:r>
            <a:r>
              <a:rPr lang="en-GB" sz="2000" dirty="0">
                <a:ea typeface="+mn-lt"/>
                <a:cs typeface="+mn-lt"/>
              </a:rPr>
              <a:t> interface de rede virtual;</a:t>
            </a:r>
          </a:p>
          <a:p>
            <a:pPr lvl="1">
              <a:buFont typeface="Courier New" charset="2"/>
              <a:buChar char="o"/>
            </a:pPr>
            <a:r>
              <a:rPr lang="en-GB" sz="2000" b="1" dirty="0">
                <a:ea typeface="+mn-lt"/>
                <a:cs typeface="+mn-lt"/>
              </a:rPr>
              <a:t>Roaming </a:t>
            </a:r>
            <a:r>
              <a:rPr lang="en-GB" sz="2000" b="1" dirty="0" err="1">
                <a:ea typeface="+mn-lt"/>
                <a:cs typeface="+mn-lt"/>
              </a:rPr>
              <a:t>integrado</a:t>
            </a:r>
            <a:r>
              <a:rPr lang="en-GB" sz="2000" b="1" dirty="0">
                <a:ea typeface="+mn-lt"/>
                <a:cs typeface="+mn-lt"/>
              </a:rPr>
              <a:t>: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permite</a:t>
            </a:r>
            <a:r>
              <a:rPr lang="en-GB" sz="2000" dirty="0">
                <a:ea typeface="+mn-lt"/>
                <a:cs typeface="+mn-lt"/>
              </a:rPr>
              <a:t> mudar de IP </a:t>
            </a:r>
            <a:r>
              <a:rPr lang="en-GB" sz="2000" dirty="0" err="1">
                <a:ea typeface="+mn-lt"/>
                <a:cs typeface="+mn-lt"/>
              </a:rPr>
              <a:t>sem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perder</a:t>
            </a:r>
            <a:r>
              <a:rPr lang="en-GB" sz="2000" dirty="0">
                <a:ea typeface="+mn-lt"/>
                <a:cs typeface="+mn-lt"/>
              </a:rPr>
              <a:t> a </a:t>
            </a:r>
            <a:r>
              <a:rPr lang="en-GB" sz="2000" dirty="0" err="1">
                <a:ea typeface="+mn-lt"/>
                <a:cs typeface="+mn-lt"/>
              </a:rPr>
              <a:t>sessão</a:t>
            </a:r>
            <a:r>
              <a:rPr lang="en-GB" sz="2000" dirty="0">
                <a:ea typeface="+mn-lt"/>
                <a:cs typeface="+mn-lt"/>
              </a:rPr>
              <a:t>;</a:t>
            </a:r>
            <a:endParaRPr lang="en-GB" sz="2000" dirty="0"/>
          </a:p>
          <a:p>
            <a:pPr lvl="1">
              <a:buFont typeface="Courier New" charset="2"/>
              <a:buChar char="o"/>
            </a:pPr>
            <a:r>
              <a:rPr lang="en-GB" sz="2000" b="1" dirty="0" err="1">
                <a:ea typeface="+mn-lt"/>
                <a:cs typeface="+mn-lt"/>
              </a:rPr>
              <a:t>Cryptokey</a:t>
            </a:r>
            <a:r>
              <a:rPr lang="en-GB" sz="2000" b="1" dirty="0">
                <a:ea typeface="+mn-lt"/>
                <a:cs typeface="+mn-lt"/>
              </a:rPr>
              <a:t> Routing: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cada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chave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pública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está</a:t>
            </a:r>
            <a:r>
              <a:rPr lang="en-GB" sz="2000" dirty="0">
                <a:ea typeface="+mn-lt"/>
                <a:cs typeface="+mn-lt"/>
              </a:rPr>
              <a:t> </a:t>
            </a:r>
            <a:r>
              <a:rPr lang="en-GB" sz="2000" dirty="0" err="1">
                <a:ea typeface="+mn-lt"/>
                <a:cs typeface="+mn-lt"/>
              </a:rPr>
              <a:t>associada</a:t>
            </a:r>
            <a:r>
              <a:rPr lang="en-GB" sz="2000" dirty="0">
                <a:ea typeface="+mn-lt"/>
                <a:cs typeface="+mn-lt"/>
              </a:rPr>
              <a:t> a IPs </a:t>
            </a:r>
            <a:r>
              <a:rPr lang="en-GB" sz="2000" dirty="0" err="1">
                <a:ea typeface="+mn-lt"/>
                <a:cs typeface="+mn-lt"/>
              </a:rPr>
              <a:t>permitidos</a:t>
            </a:r>
            <a:r>
              <a:rPr lang="en-GB" sz="2000" dirty="0">
                <a:ea typeface="+mn-lt"/>
                <a:cs typeface="+mn-lt"/>
              </a:rPr>
              <a:t>.</a:t>
            </a:r>
            <a:endParaRPr lang="en-GB" sz="2000" dirty="0"/>
          </a:p>
          <a:p>
            <a:pPr lvl="1">
              <a:buFont typeface="Courier New" charset="2"/>
              <a:buChar char="o"/>
            </a:pPr>
            <a:endParaRPr lang="en-GB" sz="2000" dirty="0">
              <a:ea typeface="+mn-lt"/>
              <a:cs typeface="+mn-lt"/>
            </a:endParaRPr>
          </a:p>
          <a:p>
            <a:pPr marL="0" indent="0">
              <a:buNone/>
            </a:pPr>
            <a:endParaRPr lang="en-GB" b="1" dirty="0"/>
          </a:p>
          <a:p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8820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E419C-52A0-6B4F-251B-ADDA61EC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8E08E-68C0-19F4-5969-A9799811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Funcionamento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92694-AE94-381D-9085-C692EF27E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0121" y="2487083"/>
            <a:ext cx="9332913" cy="42735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O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 opera </a:t>
            </a:r>
            <a:r>
              <a:rPr lang="en-GB" dirty="0" err="1">
                <a:ea typeface="+mn-lt"/>
                <a:cs typeface="+mn-lt"/>
              </a:rPr>
              <a:t>na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Layer 3 do </a:t>
            </a:r>
            <a:r>
              <a:rPr lang="en-GB" b="1" dirty="0" err="1">
                <a:ea typeface="+mn-lt"/>
                <a:cs typeface="+mn-lt"/>
              </a:rPr>
              <a:t>modelo</a:t>
            </a:r>
            <a:r>
              <a:rPr lang="en-GB" b="1" dirty="0">
                <a:ea typeface="+mn-lt"/>
                <a:cs typeface="+mn-lt"/>
              </a:rPr>
              <a:t> OSI (Network Layer)</a:t>
            </a:r>
            <a:r>
              <a:rPr lang="en-GB" dirty="0">
                <a:ea typeface="+mn-lt"/>
                <a:cs typeface="+mn-lt"/>
              </a:rPr>
              <a:t>.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Cada </a:t>
            </a:r>
            <a:r>
              <a:rPr lang="en-GB" dirty="0" err="1">
                <a:ea typeface="+mn-lt"/>
                <a:cs typeface="+mn-lt"/>
              </a:rPr>
              <a:t>dispositivo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possui</a:t>
            </a:r>
            <a:r>
              <a:rPr lang="en-GB" dirty="0">
                <a:ea typeface="+mn-lt"/>
                <a:cs typeface="+mn-lt"/>
              </a:rPr>
              <a:t> um </a:t>
            </a:r>
            <a:r>
              <a:rPr lang="en-GB" b="1" dirty="0">
                <a:ea typeface="+mn-lt"/>
                <a:cs typeface="+mn-lt"/>
              </a:rPr>
              <a:t>par de Chaves </a:t>
            </a:r>
            <a:r>
              <a:rPr lang="en-GB" b="1" dirty="0" err="1">
                <a:ea typeface="+mn-lt"/>
                <a:cs typeface="+mn-lt"/>
              </a:rPr>
              <a:t>Criptográficas</a:t>
            </a:r>
            <a:r>
              <a:rPr lang="en-GB" dirty="0">
                <a:ea typeface="+mn-lt"/>
                <a:cs typeface="+mn-lt"/>
              </a:rPr>
              <a:t> (</a:t>
            </a:r>
            <a:r>
              <a:rPr lang="en-GB" b="1" dirty="0">
                <a:ea typeface="+mn-lt"/>
                <a:cs typeface="+mn-lt"/>
              </a:rPr>
              <a:t>Pública</a:t>
            </a:r>
            <a:r>
              <a:rPr lang="en-GB" dirty="0">
                <a:ea typeface="+mn-lt"/>
                <a:cs typeface="+mn-lt"/>
              </a:rPr>
              <a:t> e </a:t>
            </a:r>
            <a:r>
              <a:rPr lang="en-GB" b="1" dirty="0">
                <a:ea typeface="+mn-lt"/>
                <a:cs typeface="+mn-lt"/>
              </a:rPr>
              <a:t>Privada</a:t>
            </a:r>
            <a:r>
              <a:rPr lang="en-GB" dirty="0">
                <a:ea typeface="+mn-lt"/>
                <a:cs typeface="+mn-lt"/>
              </a:rPr>
              <a:t>) para </a:t>
            </a:r>
            <a:r>
              <a:rPr lang="en-GB" b="1" dirty="0" err="1">
                <a:ea typeface="+mn-lt"/>
                <a:cs typeface="+mn-lt"/>
              </a:rPr>
              <a:t>autenticação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  <a:p>
            <a:pPr marL="0" indent="0">
              <a:buNone/>
            </a:pPr>
            <a:endParaRPr lang="en-GB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b="1" dirty="0"/>
              <a:t> Chave Pública</a:t>
            </a:r>
            <a:r>
              <a:rPr lang="en-GB" dirty="0"/>
              <a:t> - é </a:t>
            </a:r>
            <a:r>
              <a:rPr lang="en-GB" dirty="0" err="1"/>
              <a:t>partilhada</a:t>
            </a:r>
            <a:r>
              <a:rPr lang="en-GB" dirty="0"/>
              <a:t> com outro </a:t>
            </a:r>
            <a:r>
              <a:rPr lang="en-GB" dirty="0" err="1"/>
              <a:t>dispositivo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b="1" dirty="0"/>
              <a:t> Chave Privada</a:t>
            </a:r>
            <a:r>
              <a:rPr lang="en-GB" dirty="0"/>
              <a:t> – </a:t>
            </a:r>
            <a:r>
              <a:rPr lang="en-GB" dirty="0" err="1"/>
              <a:t>nunca</a:t>
            </a:r>
            <a:r>
              <a:rPr lang="en-GB" dirty="0"/>
              <a:t> é </a:t>
            </a:r>
            <a:r>
              <a:rPr lang="en-GB" dirty="0" err="1"/>
              <a:t>partilhada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 </a:t>
            </a:r>
          </a:p>
          <a:p>
            <a:pPr marL="0" indent="0">
              <a:buNone/>
            </a:pPr>
            <a:r>
              <a:rPr lang="en-GB" dirty="0"/>
              <a:t> 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dispositivos</a:t>
            </a:r>
            <a:r>
              <a:rPr lang="en-GB" dirty="0"/>
              <a:t> </a:t>
            </a:r>
            <a:r>
              <a:rPr lang="en-GB" dirty="0" err="1"/>
              <a:t>reconhecem</a:t>
            </a:r>
            <a:r>
              <a:rPr lang="en-GB" dirty="0"/>
              <a:t>-se pela </a:t>
            </a:r>
            <a:r>
              <a:rPr lang="en-GB" b="1" dirty="0"/>
              <a:t>Chave Pública</a:t>
            </a:r>
            <a:r>
              <a:rPr lang="en-GB" dirty="0"/>
              <a:t> e </a:t>
            </a:r>
            <a:r>
              <a:rPr lang="en-GB" dirty="0" err="1"/>
              <a:t>provam</a:t>
            </a:r>
            <a:r>
              <a:rPr lang="en-GB" dirty="0"/>
              <a:t> quem </a:t>
            </a:r>
            <a:r>
              <a:rPr lang="en-GB" dirty="0" err="1"/>
              <a:t>são</a:t>
            </a:r>
            <a:r>
              <a:rPr lang="en-GB" dirty="0"/>
              <a:t> pela </a:t>
            </a:r>
            <a:r>
              <a:rPr lang="en-GB" b="1" dirty="0"/>
              <a:t>Chave Privada</a:t>
            </a:r>
            <a:r>
              <a:rPr lang="en-GB" dirty="0"/>
              <a:t>. A </a:t>
            </a:r>
            <a:r>
              <a:rPr lang="en-GB" b="1" dirty="0"/>
              <a:t>Chave Privada</a:t>
            </a:r>
            <a:r>
              <a:rPr lang="en-GB" dirty="0"/>
              <a:t> é </a:t>
            </a:r>
            <a:r>
              <a:rPr lang="en-GB" dirty="0" err="1"/>
              <a:t>simplesmente</a:t>
            </a:r>
            <a:r>
              <a:rPr lang="en-GB" dirty="0"/>
              <a:t> </a:t>
            </a:r>
            <a:r>
              <a:rPr lang="en-GB" b="1" dirty="0" err="1"/>
              <a:t>usada</a:t>
            </a:r>
            <a:r>
              <a:rPr lang="en-GB" b="1" dirty="0"/>
              <a:t> </a:t>
            </a:r>
            <a:r>
              <a:rPr lang="en-GB" b="1" dirty="0" err="1"/>
              <a:t>localmente</a:t>
            </a:r>
            <a:r>
              <a:rPr lang="en-GB" dirty="0"/>
              <a:t> para</a:t>
            </a:r>
            <a:r>
              <a:rPr lang="en-GB" b="1" dirty="0"/>
              <a:t> </a:t>
            </a:r>
            <a:r>
              <a:rPr lang="en-GB" b="1" dirty="0" err="1"/>
              <a:t>autenticar</a:t>
            </a:r>
            <a:r>
              <a:rPr lang="en-GB" dirty="0"/>
              <a:t> e </a:t>
            </a:r>
            <a:r>
              <a:rPr lang="en-GB" dirty="0" err="1"/>
              <a:t>assim</a:t>
            </a:r>
            <a:r>
              <a:rPr lang="en-GB" dirty="0"/>
              <a:t> </a:t>
            </a:r>
            <a:r>
              <a:rPr lang="en-GB" b="1" dirty="0" err="1"/>
              <a:t>encriptar</a:t>
            </a:r>
            <a:r>
              <a:rPr lang="en-GB" b="1" dirty="0"/>
              <a:t> a </a:t>
            </a:r>
            <a:r>
              <a:rPr lang="en-GB" b="1" dirty="0" err="1"/>
              <a:t>comunicação</a:t>
            </a:r>
            <a:r>
              <a:rPr lang="en-GB" dirty="0"/>
              <a:t>.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38743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8205-DBDC-FED9-3ADA-D45EAD0E4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Casos Uso e </a:t>
            </a:r>
            <a:r>
              <a:rPr lang="en-GB" dirty="0" err="1"/>
              <a:t>Vantagens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B429-CD55-DA12-B8CA-F978A720D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54" y="3429000"/>
            <a:ext cx="5977997" cy="26225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600" b="1" dirty="0">
                <a:ea typeface="+mn-lt"/>
                <a:cs typeface="+mn-lt"/>
              </a:rPr>
              <a:t>VPN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corporativa</a:t>
            </a:r>
            <a:r>
              <a:rPr lang="en-GB" sz="1600" dirty="0">
                <a:ea typeface="+mn-lt"/>
                <a:cs typeface="+mn-lt"/>
              </a:rPr>
              <a:t> simples, </a:t>
            </a:r>
            <a:r>
              <a:rPr lang="en-GB" sz="1600" dirty="0" err="1">
                <a:ea typeface="+mn-lt"/>
                <a:cs typeface="+mn-lt"/>
              </a:rPr>
              <a:t>rápida</a:t>
            </a:r>
            <a:r>
              <a:rPr lang="en-GB" sz="1600" dirty="0">
                <a:ea typeface="+mn-lt"/>
                <a:cs typeface="+mn-lt"/>
              </a:rPr>
              <a:t> e </a:t>
            </a:r>
            <a:r>
              <a:rPr lang="en-GB" sz="1600" dirty="0" err="1">
                <a:ea typeface="+mn-lt"/>
                <a:cs typeface="+mn-lt"/>
              </a:rPr>
              <a:t>segura</a:t>
            </a:r>
            <a:r>
              <a:rPr lang="en-GB" sz="1600" dirty="0">
                <a:ea typeface="+mn-lt"/>
                <a:cs typeface="+mn-lt"/>
              </a:rPr>
              <a:t>;</a:t>
            </a:r>
            <a:endParaRPr lang="en-GB" sz="1600" dirty="0"/>
          </a:p>
          <a:p>
            <a:r>
              <a:rPr lang="en-GB" sz="1600" b="1" dirty="0">
                <a:ea typeface="+mn-lt"/>
                <a:cs typeface="+mn-lt"/>
              </a:rPr>
              <a:t>VPN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pessoal</a:t>
            </a:r>
            <a:r>
              <a:rPr lang="en-GB" sz="1600" dirty="0">
                <a:ea typeface="+mn-lt"/>
                <a:cs typeface="+mn-lt"/>
              </a:rPr>
              <a:t> para </a:t>
            </a:r>
            <a:r>
              <a:rPr lang="en-GB" sz="1600" dirty="0" err="1">
                <a:ea typeface="+mn-lt"/>
                <a:cs typeface="+mn-lt"/>
              </a:rPr>
              <a:t>segurança</a:t>
            </a:r>
            <a:r>
              <a:rPr lang="en-GB" sz="1600" dirty="0">
                <a:ea typeface="+mn-lt"/>
                <a:cs typeface="+mn-lt"/>
              </a:rPr>
              <a:t> e </a:t>
            </a:r>
            <a:r>
              <a:rPr lang="en-GB" sz="1600" dirty="0" err="1">
                <a:ea typeface="+mn-lt"/>
                <a:cs typeface="+mn-lt"/>
              </a:rPr>
              <a:t>privacidade</a:t>
            </a:r>
            <a:r>
              <a:rPr lang="en-GB" sz="1600" dirty="0">
                <a:ea typeface="+mn-lt"/>
                <a:cs typeface="+mn-lt"/>
              </a:rPr>
              <a:t>;</a:t>
            </a:r>
          </a:p>
          <a:p>
            <a:r>
              <a:rPr lang="en-GB" sz="1600" dirty="0" err="1">
                <a:ea typeface="+mn-lt"/>
                <a:cs typeface="+mn-lt"/>
              </a:rPr>
              <a:t>Acesso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remoto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seguro</a:t>
            </a:r>
            <a:r>
              <a:rPr lang="en-GB" sz="1600" dirty="0">
                <a:ea typeface="+mn-lt"/>
                <a:cs typeface="+mn-lt"/>
              </a:rPr>
              <a:t> a </a:t>
            </a:r>
            <a:r>
              <a:rPr lang="en-GB" sz="1600" dirty="0" err="1">
                <a:ea typeface="+mn-lt"/>
                <a:cs typeface="+mn-lt"/>
              </a:rPr>
              <a:t>servidores</a:t>
            </a:r>
            <a:r>
              <a:rPr lang="en-GB" sz="1600" dirty="0">
                <a:ea typeface="+mn-lt"/>
                <a:cs typeface="+mn-lt"/>
              </a:rPr>
              <a:t>;</a:t>
            </a:r>
            <a:endParaRPr lang="en-GB" sz="1600" dirty="0"/>
          </a:p>
          <a:p>
            <a:r>
              <a:rPr lang="en-GB" sz="1600" dirty="0" err="1">
                <a:ea typeface="+mn-lt"/>
                <a:cs typeface="+mn-lt"/>
              </a:rPr>
              <a:t>Túneis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seguros</a:t>
            </a:r>
            <a:r>
              <a:rPr lang="en-GB" sz="1600" dirty="0">
                <a:ea typeface="+mn-lt"/>
                <a:cs typeface="+mn-lt"/>
              </a:rPr>
              <a:t> entre </a:t>
            </a:r>
            <a:r>
              <a:rPr lang="en-GB" sz="1600" dirty="0" err="1">
                <a:ea typeface="+mn-lt"/>
                <a:cs typeface="+mn-lt"/>
              </a:rPr>
              <a:t>datacenters</a:t>
            </a:r>
            <a:r>
              <a:rPr lang="en-GB" sz="1600" dirty="0">
                <a:ea typeface="+mn-lt"/>
                <a:cs typeface="+mn-lt"/>
              </a:rPr>
              <a:t>;</a:t>
            </a:r>
            <a:endParaRPr lang="en-GB" sz="1600" dirty="0"/>
          </a:p>
          <a:p>
            <a:r>
              <a:rPr lang="en-GB" sz="1600" b="1" dirty="0">
                <a:ea typeface="+mn-lt"/>
                <a:cs typeface="+mn-lt"/>
              </a:rPr>
              <a:t>VPN</a:t>
            </a:r>
            <a:r>
              <a:rPr lang="en-GB" sz="1600" dirty="0">
                <a:ea typeface="+mn-lt"/>
                <a:cs typeface="+mn-lt"/>
              </a:rPr>
              <a:t> para </a:t>
            </a:r>
            <a:r>
              <a:rPr lang="en-GB" sz="1600" dirty="0" err="1">
                <a:ea typeface="+mn-lt"/>
                <a:cs typeface="+mn-lt"/>
              </a:rPr>
              <a:t>dispositivos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móveis</a:t>
            </a:r>
            <a:r>
              <a:rPr lang="en-GB" sz="1600" dirty="0">
                <a:ea typeface="+mn-lt"/>
                <a:cs typeface="+mn-lt"/>
              </a:rPr>
              <a:t> (roaming </a:t>
            </a:r>
            <a:r>
              <a:rPr lang="en-GB" sz="1600" dirty="0" err="1">
                <a:ea typeface="+mn-lt"/>
                <a:cs typeface="+mn-lt"/>
              </a:rPr>
              <a:t>eficiente</a:t>
            </a:r>
            <a:r>
              <a:rPr lang="en-GB" sz="1600" dirty="0">
                <a:ea typeface="+mn-lt"/>
                <a:cs typeface="+mn-lt"/>
              </a:rPr>
              <a:t>);</a:t>
            </a:r>
          </a:p>
          <a:p>
            <a:r>
              <a:rPr lang="en-GB" sz="1600" dirty="0" err="1">
                <a:ea typeface="+mn-lt"/>
                <a:cs typeface="+mn-lt"/>
              </a:rPr>
              <a:t>Proteção</a:t>
            </a:r>
            <a:r>
              <a:rPr lang="en-GB" sz="1600" dirty="0">
                <a:ea typeface="+mn-lt"/>
                <a:cs typeface="+mn-lt"/>
              </a:rPr>
              <a:t> e </a:t>
            </a:r>
            <a:r>
              <a:rPr lang="en-GB" sz="1600" dirty="0" err="1">
                <a:ea typeface="+mn-lt"/>
                <a:cs typeface="+mn-lt"/>
              </a:rPr>
              <a:t>privacidade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em</a:t>
            </a:r>
            <a:r>
              <a:rPr lang="en-GB" sz="1600" dirty="0">
                <a:ea typeface="+mn-lt"/>
                <a:cs typeface="+mn-lt"/>
              </a:rPr>
              <a:t> redes </a:t>
            </a:r>
            <a:r>
              <a:rPr lang="en-GB" sz="1600" dirty="0" err="1">
                <a:ea typeface="+mn-lt"/>
                <a:cs typeface="+mn-lt"/>
              </a:rPr>
              <a:t>públicas</a:t>
            </a:r>
            <a:r>
              <a:rPr lang="en-GB" sz="1600" dirty="0">
                <a:ea typeface="+mn-lt"/>
                <a:cs typeface="+mn-lt"/>
              </a:rPr>
              <a:t>.</a:t>
            </a:r>
            <a:endParaRPr lang="en-GB" sz="1600" dirty="0"/>
          </a:p>
          <a:p>
            <a:endParaRPr lang="en-GB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0F63AD-9293-4FD3-2648-FF3C123DDCCF}"/>
              </a:ext>
            </a:extLst>
          </p:cNvPr>
          <p:cNvSpPr txBox="1">
            <a:spLocks/>
          </p:cNvSpPr>
          <p:nvPr/>
        </p:nvSpPr>
        <p:spPr>
          <a:xfrm>
            <a:off x="6091020" y="3433234"/>
            <a:ext cx="5977997" cy="2622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err="1">
                <a:ea typeface="+mn-lt"/>
                <a:cs typeface="+mn-lt"/>
              </a:rPr>
              <a:t>Desempenho</a:t>
            </a:r>
            <a:r>
              <a:rPr lang="en-GB" sz="1600" dirty="0">
                <a:ea typeface="+mn-lt"/>
                <a:cs typeface="+mn-lt"/>
              </a:rPr>
              <a:t> superior </a:t>
            </a:r>
            <a:r>
              <a:rPr lang="en-GB" sz="1600" dirty="0" err="1">
                <a:ea typeface="+mn-lt"/>
                <a:cs typeface="+mn-lt"/>
              </a:rPr>
              <a:t>ao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b="1" dirty="0">
                <a:ea typeface="+mn-lt"/>
                <a:cs typeface="+mn-lt"/>
              </a:rPr>
              <a:t>OpenVPN</a:t>
            </a:r>
            <a:r>
              <a:rPr lang="en-GB" sz="1600" dirty="0">
                <a:ea typeface="+mn-lt"/>
                <a:cs typeface="+mn-lt"/>
              </a:rPr>
              <a:t> e </a:t>
            </a:r>
            <a:r>
              <a:rPr lang="en-GB" sz="1600" b="1" dirty="0">
                <a:ea typeface="+mn-lt"/>
                <a:cs typeface="+mn-lt"/>
              </a:rPr>
              <a:t>IPsec</a:t>
            </a:r>
            <a:r>
              <a:rPr lang="en-GB" sz="1600" dirty="0">
                <a:ea typeface="+mn-lt"/>
                <a:cs typeface="+mn-lt"/>
              </a:rPr>
              <a:t>;</a:t>
            </a:r>
          </a:p>
          <a:p>
            <a:r>
              <a:rPr lang="en-GB" sz="1600" dirty="0" err="1">
                <a:ea typeface="+mn-lt"/>
                <a:cs typeface="+mn-lt"/>
              </a:rPr>
              <a:t>Configuração</a:t>
            </a:r>
            <a:r>
              <a:rPr lang="en-GB" sz="1600" dirty="0">
                <a:ea typeface="+mn-lt"/>
                <a:cs typeface="+mn-lt"/>
              </a:rPr>
              <a:t> simples;</a:t>
            </a:r>
            <a:endParaRPr lang="en-GB" dirty="0"/>
          </a:p>
          <a:p>
            <a:r>
              <a:rPr lang="en-GB" sz="1600" dirty="0">
                <a:ea typeface="+mn-lt"/>
                <a:cs typeface="+mn-lt"/>
              </a:rPr>
              <a:t>Código </a:t>
            </a:r>
            <a:r>
              <a:rPr lang="en-GB" sz="1600" dirty="0" err="1">
                <a:ea typeface="+mn-lt"/>
                <a:cs typeface="+mn-lt"/>
              </a:rPr>
              <a:t>reduzido</a:t>
            </a:r>
            <a:r>
              <a:rPr lang="en-GB" sz="1600" dirty="0">
                <a:ea typeface="+mn-lt"/>
                <a:cs typeface="+mn-lt"/>
              </a:rPr>
              <a:t>, </a:t>
            </a:r>
            <a:r>
              <a:rPr lang="en-GB" sz="1600" dirty="0" err="1">
                <a:ea typeface="+mn-lt"/>
                <a:cs typeface="+mn-lt"/>
              </a:rPr>
              <a:t>facilitando</a:t>
            </a:r>
            <a:r>
              <a:rPr lang="en-GB" sz="1600" dirty="0">
                <a:ea typeface="+mn-lt"/>
                <a:cs typeface="+mn-lt"/>
              </a:rPr>
              <a:t> auditoria;</a:t>
            </a:r>
            <a:endParaRPr lang="en-GB" dirty="0"/>
          </a:p>
          <a:p>
            <a:r>
              <a:rPr lang="en-GB" sz="1600" dirty="0" err="1">
                <a:ea typeface="+mn-lt"/>
                <a:cs typeface="+mn-lt"/>
              </a:rPr>
              <a:t>Segurança</a:t>
            </a:r>
            <a:r>
              <a:rPr lang="en-GB" sz="1600" dirty="0">
                <a:ea typeface="+mn-lt"/>
                <a:cs typeface="+mn-lt"/>
              </a:rPr>
              <a:t> moderna com </a:t>
            </a:r>
            <a:r>
              <a:rPr lang="en-GB" sz="1600" dirty="0" err="1">
                <a:ea typeface="+mn-lt"/>
                <a:cs typeface="+mn-lt"/>
              </a:rPr>
              <a:t>criptografia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atualizada</a:t>
            </a:r>
            <a:r>
              <a:rPr lang="en-GB" sz="1600" dirty="0">
                <a:ea typeface="+mn-lt"/>
                <a:cs typeface="+mn-lt"/>
              </a:rPr>
              <a:t>;</a:t>
            </a:r>
            <a:endParaRPr lang="en-GB" dirty="0" err="1"/>
          </a:p>
          <a:p>
            <a:r>
              <a:rPr lang="en-GB" sz="1600" dirty="0">
                <a:ea typeface="+mn-lt"/>
                <a:cs typeface="+mn-lt"/>
              </a:rPr>
              <a:t>Roaming </a:t>
            </a:r>
            <a:r>
              <a:rPr lang="en-GB" sz="1600" dirty="0" err="1">
                <a:ea typeface="+mn-lt"/>
                <a:cs typeface="+mn-lt"/>
              </a:rPr>
              <a:t>automático</a:t>
            </a:r>
            <a:r>
              <a:rPr lang="en-GB" sz="1600" dirty="0">
                <a:ea typeface="+mn-lt"/>
                <a:cs typeface="+mn-lt"/>
              </a:rPr>
              <a:t>, ideal para </a:t>
            </a:r>
            <a:r>
              <a:rPr lang="en-GB" sz="1600" dirty="0" err="1">
                <a:ea typeface="+mn-lt"/>
                <a:cs typeface="+mn-lt"/>
              </a:rPr>
              <a:t>dispositivos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móveis</a:t>
            </a:r>
            <a:r>
              <a:rPr lang="en-GB" sz="1600" dirty="0">
                <a:ea typeface="+mn-lt"/>
                <a:cs typeface="+mn-lt"/>
              </a:rPr>
              <a:t>;</a:t>
            </a:r>
            <a:endParaRPr lang="en-GB" dirty="0" err="1">
              <a:ea typeface="+mn-lt"/>
              <a:cs typeface="+mn-lt"/>
            </a:endParaRPr>
          </a:p>
          <a:p>
            <a:r>
              <a:rPr lang="en-GB" sz="1600" dirty="0" err="1">
                <a:ea typeface="+mn-lt"/>
                <a:cs typeface="+mn-lt"/>
              </a:rPr>
              <a:t>Compatível</a:t>
            </a:r>
            <a:r>
              <a:rPr lang="en-GB" sz="1600" dirty="0">
                <a:ea typeface="+mn-lt"/>
                <a:cs typeface="+mn-lt"/>
              </a:rPr>
              <a:t> com </a:t>
            </a:r>
            <a:r>
              <a:rPr lang="en-GB" sz="1600" dirty="0" err="1">
                <a:ea typeface="+mn-lt"/>
                <a:cs typeface="+mn-lt"/>
              </a:rPr>
              <a:t>vários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sistemas</a:t>
            </a:r>
            <a:r>
              <a:rPr lang="en-GB" sz="1600" dirty="0">
                <a:ea typeface="+mn-lt"/>
                <a:cs typeface="+mn-lt"/>
              </a:rPr>
              <a:t> </a:t>
            </a:r>
            <a:r>
              <a:rPr lang="en-GB" sz="1600" dirty="0" err="1">
                <a:ea typeface="+mn-lt"/>
                <a:cs typeface="+mn-lt"/>
              </a:rPr>
              <a:t>operativos</a:t>
            </a:r>
            <a:r>
              <a:rPr lang="en-GB" sz="1600" dirty="0">
                <a:ea typeface="+mn-lt"/>
                <a:cs typeface="+mn-lt"/>
              </a:rPr>
              <a:t>.</a:t>
            </a:r>
            <a:endParaRPr lang="en-GB" dirty="0" err="1"/>
          </a:p>
          <a:p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DA8CC-0273-8D51-5517-3FC9D5073DFD}"/>
              </a:ext>
            </a:extLst>
          </p:cNvPr>
          <p:cNvSpPr txBox="1"/>
          <p:nvPr/>
        </p:nvSpPr>
        <p:spPr>
          <a:xfrm>
            <a:off x="1799166" y="2794000"/>
            <a:ext cx="14626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Casos Uso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5A1DB-C261-D047-9227-245EFD30665B}"/>
              </a:ext>
            </a:extLst>
          </p:cNvPr>
          <p:cNvSpPr txBox="1"/>
          <p:nvPr/>
        </p:nvSpPr>
        <p:spPr>
          <a:xfrm>
            <a:off x="7969249" y="2793999"/>
            <a:ext cx="14626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 err="1"/>
              <a:t>Vantagens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45B29B-FC16-E95F-A8FB-3387C47845DB}"/>
              </a:ext>
            </a:extLst>
          </p:cNvPr>
          <p:cNvCxnSpPr/>
          <p:nvPr/>
        </p:nvCxnSpPr>
        <p:spPr>
          <a:xfrm>
            <a:off x="5842000" y="2910416"/>
            <a:ext cx="10583" cy="366183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9556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1A98F-D82F-40A7-6869-13CE423B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61E8-464D-298A-9790-64E18A4D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Comparação</a:t>
            </a:r>
            <a:r>
              <a:rPr lang="en-GB" dirty="0"/>
              <a:t> com </a:t>
            </a:r>
            <a:r>
              <a:rPr lang="en-GB" dirty="0" err="1"/>
              <a:t>Alternativas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6CDC-C045-22D2-6279-216350B28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6037" y="2370666"/>
            <a:ext cx="9470496" cy="42735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O 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dirty="0" err="1">
                <a:ea typeface="+mn-lt"/>
                <a:cs typeface="+mn-lt"/>
              </a:rPr>
              <a:t>destaca</a:t>
            </a:r>
            <a:r>
              <a:rPr lang="en-GB" dirty="0">
                <a:ea typeface="+mn-lt"/>
                <a:cs typeface="+mn-lt"/>
              </a:rPr>
              <a:t>-se pela </a:t>
            </a:r>
            <a:r>
              <a:rPr lang="en-GB" b="1" dirty="0" err="1">
                <a:ea typeface="+mn-lt"/>
                <a:cs typeface="+mn-lt"/>
              </a:rPr>
              <a:t>simplicidade</a:t>
            </a:r>
            <a:r>
              <a:rPr lang="en-GB" dirty="0">
                <a:ea typeface="+mn-lt"/>
                <a:cs typeface="+mn-lt"/>
              </a:rPr>
              <a:t> e </a:t>
            </a:r>
            <a:r>
              <a:rPr lang="en-GB" b="1" dirty="0" err="1">
                <a:ea typeface="+mn-lt"/>
                <a:cs typeface="+mn-lt"/>
              </a:rPr>
              <a:t>eficiência</a:t>
            </a:r>
            <a:r>
              <a:rPr lang="en-GB" dirty="0">
                <a:ea typeface="+mn-lt"/>
                <a:cs typeface="+mn-lt"/>
              </a:rPr>
              <a:t>, </a:t>
            </a:r>
            <a:r>
              <a:rPr lang="en-GB" dirty="0" err="1">
                <a:ea typeface="+mn-lt"/>
                <a:cs typeface="+mn-lt"/>
              </a:rPr>
              <a:t>enquanto</a:t>
            </a:r>
            <a:r>
              <a:rPr lang="en-GB" dirty="0">
                <a:ea typeface="+mn-lt"/>
                <a:cs typeface="+mn-lt"/>
              </a:rPr>
              <a:t> o </a:t>
            </a:r>
            <a:r>
              <a:rPr lang="en-GB" b="1" dirty="0">
                <a:ea typeface="+mn-lt"/>
                <a:cs typeface="+mn-lt"/>
              </a:rPr>
              <a:t>OpenVPN </a:t>
            </a:r>
            <a:r>
              <a:rPr lang="en-GB" dirty="0">
                <a:ea typeface="+mn-lt"/>
                <a:cs typeface="+mn-lt"/>
              </a:rPr>
              <a:t>e o </a:t>
            </a:r>
            <a:r>
              <a:rPr lang="en-GB" b="1" dirty="0">
                <a:ea typeface="+mn-lt"/>
                <a:cs typeface="+mn-lt"/>
              </a:rPr>
              <a:t>IPsec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dirty="0" err="1">
                <a:ea typeface="+mn-lt"/>
                <a:cs typeface="+mn-lt"/>
              </a:rPr>
              <a:t>oferecem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b="1" dirty="0" err="1">
                <a:ea typeface="+mn-lt"/>
                <a:cs typeface="+mn-lt"/>
              </a:rPr>
              <a:t>mais</a:t>
            </a:r>
            <a:r>
              <a:rPr lang="en-GB" b="1" dirty="0">
                <a:ea typeface="+mn-lt"/>
                <a:cs typeface="+mn-lt"/>
              </a:rPr>
              <a:t> </a:t>
            </a:r>
            <a:r>
              <a:rPr lang="en-GB" b="1" dirty="0" err="1">
                <a:ea typeface="+mn-lt"/>
                <a:cs typeface="+mn-lt"/>
              </a:rPr>
              <a:t>flexibilidade</a:t>
            </a:r>
            <a:r>
              <a:rPr lang="en-GB" dirty="0">
                <a:ea typeface="+mn-lt"/>
                <a:cs typeface="+mn-lt"/>
              </a:rPr>
              <a:t> mas com </a:t>
            </a:r>
            <a:r>
              <a:rPr lang="en-GB" b="1" dirty="0" err="1">
                <a:ea typeface="+mn-lt"/>
                <a:cs typeface="+mn-lt"/>
              </a:rPr>
              <a:t>maior</a:t>
            </a:r>
            <a:r>
              <a:rPr lang="en-GB" b="1" dirty="0">
                <a:ea typeface="+mn-lt"/>
                <a:cs typeface="+mn-lt"/>
              </a:rPr>
              <a:t> </a:t>
            </a:r>
            <a:r>
              <a:rPr lang="en-GB" b="1" dirty="0" err="1">
                <a:ea typeface="+mn-lt"/>
                <a:cs typeface="+mn-lt"/>
              </a:rPr>
              <a:t>complexidade</a:t>
            </a:r>
            <a:r>
              <a:rPr lang="en-GB" dirty="0">
                <a:ea typeface="+mn-lt"/>
                <a:cs typeface="+mn-lt"/>
              </a:rPr>
              <a:t>.</a:t>
            </a:r>
          </a:p>
          <a:p>
            <a:r>
              <a:rPr lang="en-GB" err="1">
                <a:ea typeface="+mn-lt"/>
                <a:cs typeface="+mn-lt"/>
              </a:rPr>
              <a:t>Comparado</a:t>
            </a:r>
            <a:r>
              <a:rPr lang="en-GB" dirty="0">
                <a:ea typeface="+mn-lt"/>
                <a:cs typeface="+mn-lt"/>
              </a:rPr>
              <a:t> com </a:t>
            </a:r>
            <a:r>
              <a:rPr lang="en-GB" b="1" dirty="0">
                <a:ea typeface="+mn-lt"/>
                <a:cs typeface="+mn-lt"/>
              </a:rPr>
              <a:t>OpenVPN</a:t>
            </a:r>
            <a:r>
              <a:rPr lang="en-GB" dirty="0">
                <a:ea typeface="+mn-lt"/>
                <a:cs typeface="+mn-lt"/>
              </a:rPr>
              <a:t> e </a:t>
            </a:r>
            <a:r>
              <a:rPr lang="en-GB" b="1" dirty="0">
                <a:ea typeface="+mn-lt"/>
                <a:cs typeface="+mn-lt"/>
              </a:rPr>
              <a:t>IPSec</a:t>
            </a:r>
            <a:r>
              <a:rPr lang="en-GB" dirty="0">
                <a:ea typeface="+mn-lt"/>
                <a:cs typeface="+mn-lt"/>
              </a:rPr>
              <a:t>, o </a:t>
            </a:r>
            <a:r>
              <a:rPr lang="en-GB" b="1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tende</a:t>
            </a:r>
            <a:r>
              <a:rPr lang="en-GB" dirty="0">
                <a:ea typeface="+mn-lt"/>
                <a:cs typeface="+mn-lt"/>
              </a:rPr>
              <a:t> a ser </a:t>
            </a:r>
            <a:r>
              <a:rPr lang="en-GB" b="1" err="1">
                <a:ea typeface="+mn-lt"/>
                <a:cs typeface="+mn-lt"/>
              </a:rPr>
              <a:t>mais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err="1">
                <a:ea typeface="+mn-lt"/>
                <a:cs typeface="+mn-lt"/>
              </a:rPr>
              <a:t>rápido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b="1" err="1">
                <a:ea typeface="+mn-lt"/>
                <a:cs typeface="+mn-lt"/>
              </a:rPr>
              <a:t>mais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err="1">
                <a:ea typeface="+mn-lt"/>
                <a:cs typeface="+mn-lt"/>
              </a:rPr>
              <a:t>seguro</a:t>
            </a:r>
            <a:r>
              <a:rPr lang="en-GB" dirty="0">
                <a:ea typeface="+mn-lt"/>
                <a:cs typeface="+mn-lt"/>
              </a:rPr>
              <a:t>, e </a:t>
            </a:r>
            <a:r>
              <a:rPr lang="en-GB" err="1">
                <a:ea typeface="+mn-lt"/>
                <a:cs typeface="+mn-lt"/>
              </a:rPr>
              <a:t>muito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err="1">
                <a:ea typeface="+mn-lt"/>
                <a:cs typeface="+mn-lt"/>
              </a:rPr>
              <a:t>mais</a:t>
            </a:r>
            <a:r>
              <a:rPr lang="en-GB" b="1" dirty="0">
                <a:ea typeface="+mn-lt"/>
                <a:cs typeface="+mn-lt"/>
              </a:rPr>
              <a:t> simples de </a:t>
            </a:r>
            <a:r>
              <a:rPr lang="en-GB" b="1" err="1">
                <a:ea typeface="+mn-lt"/>
                <a:cs typeface="+mn-lt"/>
              </a:rPr>
              <a:t>configurar</a:t>
            </a:r>
            <a:r>
              <a:rPr lang="en-GB" b="1" dirty="0">
                <a:ea typeface="+mn-lt"/>
                <a:cs typeface="+mn-lt"/>
              </a:rPr>
              <a:t>!</a:t>
            </a:r>
            <a:endParaRPr lang="en-GB" b="1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726FA4-C789-CF10-0CAE-5A737E11C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438" y="3910013"/>
            <a:ext cx="5953125" cy="2731558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9810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BAA8-652D-F54B-731C-64037E9ED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F38FB-5A74-B176-C8B1-794CF5F12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Laboratório</a:t>
            </a:r>
            <a:r>
              <a:rPr lang="en-GB" dirty="0"/>
              <a:t> </a:t>
            </a:r>
            <a:r>
              <a:rPr lang="en-GB" dirty="0" err="1"/>
              <a:t>Realizado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4F3D9-7D3B-4FAA-918D-CA3593BB3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6037" y="2370666"/>
            <a:ext cx="9470496" cy="42735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Para o </a:t>
            </a:r>
            <a:r>
              <a:rPr lang="en-GB" dirty="0" err="1">
                <a:ea typeface="+mn-lt"/>
                <a:cs typeface="+mn-lt"/>
              </a:rPr>
              <a:t>nossa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demonstração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estabelecemos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uma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ligação</a:t>
            </a:r>
            <a:r>
              <a:rPr lang="en-GB" dirty="0">
                <a:ea typeface="+mn-lt"/>
                <a:cs typeface="+mn-lt"/>
              </a:rPr>
              <a:t> com o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 entre um </a:t>
            </a:r>
            <a:r>
              <a:rPr lang="en-GB" b="1" dirty="0" err="1">
                <a:ea typeface="+mn-lt"/>
                <a:cs typeface="+mn-lt"/>
              </a:rPr>
              <a:t>Cliente</a:t>
            </a:r>
            <a:r>
              <a:rPr lang="en-GB" dirty="0">
                <a:ea typeface="+mn-lt"/>
                <a:cs typeface="+mn-lt"/>
              </a:rPr>
              <a:t> e um </a:t>
            </a:r>
            <a:r>
              <a:rPr lang="en-GB" b="1" dirty="0" err="1">
                <a:ea typeface="+mn-lt"/>
                <a:cs typeface="+mn-lt"/>
              </a:rPr>
              <a:t>Servidor</a:t>
            </a:r>
            <a:r>
              <a:rPr lang="en-GB" dirty="0">
                <a:ea typeface="+mn-lt"/>
                <a:cs typeface="+mn-lt"/>
              </a:rPr>
              <a:t> e </a:t>
            </a:r>
            <a:r>
              <a:rPr lang="en-GB" dirty="0" err="1">
                <a:ea typeface="+mn-lt"/>
                <a:cs typeface="+mn-lt"/>
              </a:rPr>
              <a:t>mostramos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que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esta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ligação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só</a:t>
            </a:r>
            <a:r>
              <a:rPr lang="en-GB" dirty="0">
                <a:ea typeface="+mn-lt"/>
                <a:cs typeface="+mn-lt"/>
              </a:rPr>
              <a:t> </a:t>
            </a:r>
            <a:r>
              <a:rPr lang="en-GB" dirty="0" err="1">
                <a:ea typeface="+mn-lt"/>
                <a:cs typeface="+mn-lt"/>
              </a:rPr>
              <a:t>funciona</a:t>
            </a:r>
            <a:r>
              <a:rPr lang="en-GB" dirty="0">
                <a:ea typeface="+mn-lt"/>
                <a:cs typeface="+mn-lt"/>
              </a:rPr>
              <a:t> se </a:t>
            </a:r>
            <a:r>
              <a:rPr lang="en-GB" dirty="0" err="1">
                <a:ea typeface="+mn-lt"/>
                <a:cs typeface="+mn-lt"/>
              </a:rPr>
              <a:t>tivermos</a:t>
            </a:r>
            <a:r>
              <a:rPr lang="en-GB" dirty="0">
                <a:ea typeface="+mn-lt"/>
                <a:cs typeface="+mn-lt"/>
              </a:rPr>
              <a:t> o </a:t>
            </a:r>
            <a:r>
              <a:rPr lang="en-GB" dirty="0" err="1">
                <a:ea typeface="+mn-lt"/>
                <a:cs typeface="+mn-lt"/>
              </a:rPr>
              <a:t>túnel</a:t>
            </a:r>
            <a:r>
              <a:rPr lang="en-GB" dirty="0">
                <a:ea typeface="+mn-lt"/>
                <a:cs typeface="+mn-lt"/>
              </a:rPr>
              <a:t> do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ativo</a:t>
            </a:r>
            <a:r>
              <a:rPr lang="en-GB" dirty="0">
                <a:ea typeface="+mn-lt"/>
                <a:cs typeface="+mn-lt"/>
              </a:rPr>
              <a:t> entre o </a:t>
            </a:r>
            <a:r>
              <a:rPr lang="en-GB" b="1" dirty="0" err="1">
                <a:ea typeface="+mn-lt"/>
                <a:cs typeface="+mn-lt"/>
              </a:rPr>
              <a:t>Cliente</a:t>
            </a:r>
            <a:r>
              <a:rPr lang="en-GB" dirty="0">
                <a:ea typeface="+mn-lt"/>
                <a:cs typeface="+mn-lt"/>
              </a:rPr>
              <a:t> e o </a:t>
            </a:r>
            <a:r>
              <a:rPr lang="en-GB" b="1" dirty="0" err="1">
                <a:ea typeface="+mn-lt"/>
                <a:cs typeface="+mn-lt"/>
              </a:rPr>
              <a:t>Servidor</a:t>
            </a:r>
            <a:r>
              <a:rPr lang="en-GB" dirty="0">
                <a:ea typeface="+mn-lt"/>
                <a:cs typeface="+mn-lt"/>
              </a:rPr>
              <a:t>. 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CAFF97-8E21-3AFC-FE94-6938BA003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16" y="3694642"/>
            <a:ext cx="3134784" cy="271780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D6C0A7-1DBD-7D73-2A3E-20829C90F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163" y="3694642"/>
            <a:ext cx="3178176" cy="2717801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38619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4C2E-B27D-8123-04E6-558C84EA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B1AD-6401-39AD-B78F-15D3E603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Laboratório</a:t>
            </a:r>
            <a:r>
              <a:rPr lang="en-GB" dirty="0"/>
              <a:t> </a:t>
            </a:r>
            <a:r>
              <a:rPr lang="en-GB" dirty="0" err="1"/>
              <a:t>Realizado</a:t>
            </a:r>
            <a:endParaRPr lang="en-US" dirty="0" err="1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48B4C0E-A1C5-A63C-A41A-59A6ACB9C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25" y="3113617"/>
            <a:ext cx="5082117" cy="267335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401E19-3189-D225-6BA3-8808846F1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212" y="3110660"/>
            <a:ext cx="3438755" cy="2803335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590FC6-0BEF-8385-3609-7BB7FCFB5CE1}"/>
              </a:ext>
            </a:extLst>
          </p:cNvPr>
          <p:cNvSpPr txBox="1"/>
          <p:nvPr/>
        </p:nvSpPr>
        <p:spPr>
          <a:xfrm>
            <a:off x="7428654" y="2794080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dirty="0" err="1"/>
              <a:t>Servidor</a:t>
            </a:r>
            <a:r>
              <a:rPr lang="en-US" sz="14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01405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0C1A-A336-2701-C0A3-03E4179D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6052-EDC4-98B3-634E-A508A1D2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Laboratório</a:t>
            </a:r>
            <a:r>
              <a:rPr lang="en-GB" dirty="0"/>
              <a:t> </a:t>
            </a:r>
            <a:r>
              <a:rPr lang="en-GB" dirty="0" err="1"/>
              <a:t>Realizado</a:t>
            </a:r>
            <a:endParaRPr lang="en-US" dirty="0" err="1"/>
          </a:p>
        </p:txBody>
      </p:sp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C5446A9-EAE7-0FE2-5F2F-6BB5B6E53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33" y="2800350"/>
            <a:ext cx="5448300" cy="354330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EAE032-A652-DA46-19FE-2B774B170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425" y="3267075"/>
            <a:ext cx="5391150" cy="260985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0D66ED-8638-C67C-7033-318DAB627643}"/>
              </a:ext>
            </a:extLst>
          </p:cNvPr>
          <p:cNvSpPr txBox="1"/>
          <p:nvPr/>
        </p:nvSpPr>
        <p:spPr>
          <a:xfrm>
            <a:off x="6424084" y="2899833"/>
            <a:ext cx="51879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 err="1"/>
              <a:t>Servidor:Minecraft</a:t>
            </a:r>
            <a:r>
              <a:rPr lang="en-GB" b="1" dirty="0"/>
              <a:t> + Minecraft Sever Console</a:t>
            </a:r>
          </a:p>
        </p:txBody>
      </p:sp>
    </p:spTree>
    <p:extLst>
      <p:ext uri="{BB962C8B-B14F-4D97-AF65-F5344CB8AC3E}">
        <p14:creationId xmlns:p14="http://schemas.microsoft.com/office/powerpoint/2010/main" val="32729895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6C456-7973-3B2E-E8D2-B26B2E10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DB56-B116-BD24-6568-EB106566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Laboratório</a:t>
            </a:r>
            <a:r>
              <a:rPr lang="en-GB" dirty="0"/>
              <a:t> </a:t>
            </a:r>
            <a:r>
              <a:rPr lang="en-GB" dirty="0" err="1"/>
              <a:t>Realizado</a:t>
            </a:r>
            <a:endParaRPr lang="en-US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2D425-F719-D27B-6924-179CA97FB5C0}"/>
              </a:ext>
            </a:extLst>
          </p:cNvPr>
          <p:cNvSpPr txBox="1"/>
          <p:nvPr/>
        </p:nvSpPr>
        <p:spPr>
          <a:xfrm>
            <a:off x="3926416" y="2412999"/>
            <a:ext cx="43307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 err="1"/>
              <a:t>Desativamos</a:t>
            </a:r>
            <a:r>
              <a:rPr lang="en-GB" b="1" dirty="0"/>
              <a:t> o </a:t>
            </a:r>
            <a:r>
              <a:rPr lang="en-GB" b="1" dirty="0" err="1"/>
              <a:t>WireGuard</a:t>
            </a:r>
            <a:r>
              <a:rPr lang="en-GB" b="1" dirty="0"/>
              <a:t> no </a:t>
            </a:r>
            <a:r>
              <a:rPr lang="en-GB" b="1" dirty="0" err="1"/>
              <a:t>Cliente</a:t>
            </a:r>
            <a:r>
              <a:rPr lang="en-GB" b="1" dirty="0"/>
              <a:t>: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D43B6E-DD29-E896-F359-39C5BDCF5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507" y="3434854"/>
            <a:ext cx="6103298" cy="3185555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7DF422-FE6A-260E-1D65-112DB9D1A5DD}"/>
              </a:ext>
            </a:extLst>
          </p:cNvPr>
          <p:cNvSpPr txBox="1"/>
          <p:nvPr/>
        </p:nvSpPr>
        <p:spPr>
          <a:xfrm>
            <a:off x="5535083" y="3066554"/>
            <a:ext cx="10816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 err="1"/>
              <a:t>Servidor</a:t>
            </a: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1835849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2F2-F204-E741-8F66-8BF87A54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D62E-AAFB-9677-9836-0DABE421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Laboratório</a:t>
            </a:r>
            <a:r>
              <a:rPr lang="en-GB" dirty="0"/>
              <a:t> </a:t>
            </a:r>
            <a:r>
              <a:rPr lang="en-GB" dirty="0" err="1"/>
              <a:t>Realizado</a:t>
            </a:r>
            <a:endParaRPr lang="en-US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D313FB-A2C5-AB45-4C2B-9E6318C35725}"/>
              </a:ext>
            </a:extLst>
          </p:cNvPr>
          <p:cNvSpPr txBox="1"/>
          <p:nvPr/>
        </p:nvSpPr>
        <p:spPr>
          <a:xfrm>
            <a:off x="3143249" y="2497666"/>
            <a:ext cx="5918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ea typeface="+mn-lt"/>
                <a:cs typeface="+mn-lt"/>
              </a:rPr>
              <a:t>Com o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desativado</a:t>
            </a:r>
            <a:r>
              <a:rPr lang="en-GB" b="1" dirty="0">
                <a:ea typeface="+mn-lt"/>
                <a:cs typeface="+mn-lt"/>
              </a:rPr>
              <a:t> no </a:t>
            </a:r>
            <a:r>
              <a:rPr lang="en-GB" b="1" dirty="0" err="1">
                <a:ea typeface="+mn-lt"/>
                <a:cs typeface="+mn-lt"/>
              </a:rPr>
              <a:t>Cliente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 err="1">
                <a:ea typeface="+mn-lt"/>
                <a:cs typeface="+mn-lt"/>
              </a:rPr>
              <a:t>tentámos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aceder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ao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servidor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dirty="0">
                <a:ea typeface="+mn-lt"/>
                <a:cs typeface="+mn-lt"/>
              </a:rPr>
              <a:t>e </a:t>
            </a:r>
            <a:r>
              <a:rPr lang="en-GB" dirty="0" err="1">
                <a:ea typeface="+mn-lt"/>
                <a:cs typeface="+mn-lt"/>
              </a:rPr>
              <a:t>vemos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que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não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conseguimos</a:t>
            </a:r>
            <a:r>
              <a:rPr lang="en-GB" dirty="0">
                <a:ea typeface="+mn-lt"/>
                <a:cs typeface="+mn-lt"/>
              </a:rPr>
              <a:t>:</a:t>
            </a:r>
            <a:endParaRPr lang="en-GB" dirty="0"/>
          </a:p>
        </p:txBody>
      </p:sp>
      <p:pic>
        <p:nvPicPr>
          <p:cNvPr id="3" name="Picture 2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3A5EA01D-395A-7408-57F0-ED87CFA7D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663" y="3354917"/>
            <a:ext cx="5919258" cy="3164416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7685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93639-0693-55FC-F374-3A27350C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Conclusão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A3443-1892-D9ED-C401-F5B87667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123" y="3246747"/>
            <a:ext cx="8197336" cy="20803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O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 é </a:t>
            </a:r>
            <a:r>
              <a:rPr lang="en-GB" dirty="0" err="1">
                <a:ea typeface="+mn-lt"/>
                <a:cs typeface="+mn-lt"/>
              </a:rPr>
              <a:t>uma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solução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VPN</a:t>
            </a:r>
            <a:r>
              <a:rPr lang="en-GB" dirty="0">
                <a:ea typeface="+mn-lt"/>
                <a:cs typeface="+mn-lt"/>
              </a:rPr>
              <a:t> moderna.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O </a:t>
            </a:r>
            <a:r>
              <a:rPr lang="en-GB" dirty="0" err="1">
                <a:ea typeface="+mn-lt"/>
                <a:cs typeface="+mn-lt"/>
              </a:rPr>
              <a:t>trabalho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permitiu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compreender</a:t>
            </a:r>
            <a:r>
              <a:rPr lang="en-GB" dirty="0">
                <a:ea typeface="+mn-lt"/>
                <a:cs typeface="+mn-lt"/>
              </a:rPr>
              <a:t> o </a:t>
            </a:r>
            <a:r>
              <a:rPr lang="en-GB" dirty="0" err="1">
                <a:ea typeface="+mn-lt"/>
                <a:cs typeface="+mn-lt"/>
              </a:rPr>
              <a:t>seu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funcionamento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b="1" dirty="0" err="1">
                <a:ea typeface="+mn-lt"/>
                <a:cs typeface="+mn-lt"/>
              </a:rPr>
              <a:t>finalidade</a:t>
            </a:r>
            <a:r>
              <a:rPr lang="en-GB" dirty="0">
                <a:ea typeface="+mn-lt"/>
                <a:cs typeface="+mn-lt"/>
              </a:rPr>
              <a:t> e </a:t>
            </a:r>
            <a:r>
              <a:rPr lang="en-GB" b="1" dirty="0" err="1">
                <a:ea typeface="+mn-lt"/>
                <a:cs typeface="+mn-lt"/>
              </a:rPr>
              <a:t>vantagens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em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relação</a:t>
            </a:r>
            <a:r>
              <a:rPr lang="en-GB" dirty="0">
                <a:ea typeface="+mn-lt"/>
                <a:cs typeface="+mn-lt"/>
              </a:rPr>
              <a:t> a </a:t>
            </a:r>
            <a:r>
              <a:rPr lang="en-GB" dirty="0" err="1">
                <a:ea typeface="+mn-lt"/>
                <a:cs typeface="+mn-lt"/>
              </a:rPr>
              <a:t>outras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alternativas</a:t>
            </a:r>
            <a:r>
              <a:rPr lang="en-GB" dirty="0">
                <a:ea typeface="+mn-lt"/>
                <a:cs typeface="+mn-lt"/>
              </a:rPr>
              <a:t>. </a:t>
            </a:r>
          </a:p>
          <a:p>
            <a:r>
              <a:rPr lang="en-GB" dirty="0">
                <a:ea typeface="+mn-lt"/>
                <a:cs typeface="+mn-lt"/>
              </a:rPr>
              <a:t>O </a:t>
            </a:r>
            <a:r>
              <a:rPr lang="en-GB" dirty="0" err="1">
                <a:ea typeface="+mn-lt"/>
                <a:cs typeface="+mn-lt"/>
              </a:rPr>
              <a:t>laboratório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prático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confirmou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que</a:t>
            </a:r>
            <a:r>
              <a:rPr lang="en-GB" dirty="0">
                <a:ea typeface="+mn-lt"/>
                <a:cs typeface="+mn-lt"/>
              </a:rPr>
              <a:t> o </a:t>
            </a:r>
            <a:r>
              <a:rPr lang="en-GB" dirty="0" err="1">
                <a:ea typeface="+mn-lt"/>
                <a:cs typeface="+mn-lt"/>
              </a:rPr>
              <a:t>túnel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garante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segurança</a:t>
            </a:r>
            <a:r>
              <a:rPr lang="en-GB" dirty="0">
                <a:ea typeface="+mn-lt"/>
                <a:cs typeface="+mn-lt"/>
              </a:rPr>
              <a:t> e </a:t>
            </a:r>
            <a:r>
              <a:rPr lang="en-GB" b="1" dirty="0" err="1">
                <a:ea typeface="+mn-lt"/>
                <a:cs typeface="+mn-lt"/>
              </a:rPr>
              <a:t>controlo</a:t>
            </a:r>
            <a:r>
              <a:rPr lang="en-GB" b="1" dirty="0">
                <a:ea typeface="+mn-lt"/>
                <a:cs typeface="+mn-lt"/>
              </a:rPr>
              <a:t> de </a:t>
            </a:r>
            <a:r>
              <a:rPr lang="en-GB" b="1" dirty="0" err="1">
                <a:ea typeface="+mn-lt"/>
                <a:cs typeface="+mn-lt"/>
              </a:rPr>
              <a:t>acesso</a:t>
            </a:r>
            <a:r>
              <a:rPr lang="en-GB" dirty="0">
                <a:ea typeface="+mn-lt"/>
                <a:cs typeface="+mn-lt"/>
              </a:rPr>
              <a:t>. A </a:t>
            </a:r>
            <a:r>
              <a:rPr lang="en-GB" dirty="0" err="1">
                <a:ea typeface="+mn-lt"/>
                <a:cs typeface="+mn-lt"/>
              </a:rPr>
              <a:t>ligação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ao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servidor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só</a:t>
            </a:r>
            <a:r>
              <a:rPr lang="en-GB" dirty="0">
                <a:ea typeface="+mn-lt"/>
                <a:cs typeface="+mn-lt"/>
              </a:rPr>
              <a:t> era </a:t>
            </a:r>
            <a:r>
              <a:rPr lang="en-GB" dirty="0" err="1">
                <a:ea typeface="+mn-lt"/>
                <a:cs typeface="+mn-lt"/>
              </a:rPr>
              <a:t>possível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quando</a:t>
            </a:r>
            <a:r>
              <a:rPr lang="en-GB" dirty="0">
                <a:ea typeface="+mn-lt"/>
                <a:cs typeface="+mn-lt"/>
              </a:rPr>
              <a:t> o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estava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ativo</a:t>
            </a:r>
            <a:r>
              <a:rPr lang="en-GB" dirty="0">
                <a:ea typeface="+mn-lt"/>
                <a:cs typeface="+mn-lt"/>
              </a:rPr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3790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F046-0FA6-1384-2734-F5511857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FF00"/>
                </a:solidFill>
              </a:rPr>
              <a:t>QUIZ – O </a:t>
            </a:r>
            <a:r>
              <a:rPr lang="en-GB" b="1" err="1">
                <a:solidFill>
                  <a:srgbClr val="FFFF00"/>
                </a:solidFill>
              </a:rPr>
              <a:t>que</a:t>
            </a:r>
            <a:r>
              <a:rPr lang="en-GB" b="1" dirty="0">
                <a:solidFill>
                  <a:srgbClr val="FFFF00"/>
                </a:solidFill>
              </a:rPr>
              <a:t> é o </a:t>
            </a:r>
            <a:r>
              <a:rPr lang="en-GB" b="1" err="1">
                <a:solidFill>
                  <a:srgbClr val="FFFF00"/>
                </a:solidFill>
              </a:rPr>
              <a:t>WireGuard</a:t>
            </a:r>
            <a:r>
              <a:rPr lang="en-GB" b="1" dirty="0">
                <a:solidFill>
                  <a:srgbClr val="FFFF00"/>
                </a:solidFill>
              </a:rPr>
              <a:t>?</a:t>
            </a:r>
          </a:p>
        </p:txBody>
      </p:sp>
      <p:pic>
        <p:nvPicPr>
          <p:cNvPr id="4" name="Graphic 3" descr="Kahoot! – Wikipédia, a enciclopédia livre">
            <a:extLst>
              <a:ext uri="{FF2B5EF4-FFF2-40B4-BE49-F238E27FC236}">
                <a16:creationId xmlns:a16="http://schemas.microsoft.com/office/drawing/2014/main" id="{2BE90017-C81A-B9CF-C810-B751D60FC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4634" y="3021054"/>
            <a:ext cx="8492832" cy="280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4011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F4D4F-02AA-BA22-E6C8-70BDBDB8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B439-0E49-08AD-2BBA-28C8E8A8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solidFill>
                  <a:srgbClr val="FFFF00"/>
                </a:solidFill>
              </a:rPr>
              <a:t>Laboratório</a:t>
            </a:r>
            <a:endParaRPr lang="en-GB" b="1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05BDD-8289-A4CE-D7D0-25690185E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ea typeface="+mn-lt"/>
                <a:cs typeface="+mn-lt"/>
              </a:rPr>
              <a:t>Passos para </a:t>
            </a:r>
            <a:r>
              <a:rPr lang="en-GB" b="1" dirty="0" err="1">
                <a:ea typeface="+mn-lt"/>
                <a:cs typeface="+mn-lt"/>
              </a:rPr>
              <a:t>realização</a:t>
            </a:r>
            <a:r>
              <a:rPr lang="en-GB" b="1" dirty="0">
                <a:ea typeface="+mn-lt"/>
                <a:cs typeface="+mn-lt"/>
              </a:rPr>
              <a:t> da </a:t>
            </a:r>
            <a:r>
              <a:rPr lang="en-GB" b="1" dirty="0" err="1">
                <a:ea typeface="+mn-lt"/>
                <a:cs typeface="+mn-lt"/>
              </a:rPr>
              <a:t>tarefa</a:t>
            </a:r>
            <a:r>
              <a:rPr lang="en-GB" b="1" dirty="0">
                <a:ea typeface="+mn-lt"/>
                <a:cs typeface="+mn-lt"/>
              </a:rPr>
              <a:t>:</a:t>
            </a:r>
            <a:r>
              <a:rPr lang="en-GB" dirty="0">
                <a:ea typeface="+mn-lt"/>
                <a:cs typeface="+mn-lt"/>
              </a:rPr>
              <a:t> </a:t>
            </a:r>
            <a:endParaRPr lang="en-GB">
              <a:ea typeface="+mn-lt"/>
              <a:cs typeface="+mn-lt"/>
            </a:endParaRPr>
          </a:p>
          <a:p>
            <a:pPr lvl="1" indent="-342900">
              <a:buFont typeface="Courier New" charset="2"/>
              <a:buChar char="o"/>
            </a:pPr>
            <a:r>
              <a:rPr lang="en-GB" b="1" dirty="0">
                <a:ea typeface="+mn-lt"/>
                <a:cs typeface="+mn-lt"/>
              </a:rPr>
              <a:t>Instalar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err="1">
                <a:ea typeface="+mn-lt"/>
                <a:cs typeface="+mn-lt"/>
              </a:rPr>
              <a:t>WireGuard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numa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OVA </a:t>
            </a:r>
            <a:r>
              <a:rPr lang="en-GB" b="1" err="1">
                <a:ea typeface="+mn-lt"/>
                <a:cs typeface="+mn-lt"/>
              </a:rPr>
              <a:t>fornecida</a:t>
            </a:r>
            <a:r>
              <a:rPr lang="en-GB" dirty="0">
                <a:ea typeface="+mn-lt"/>
                <a:cs typeface="+mn-lt"/>
              </a:rPr>
              <a:t>; </a:t>
            </a:r>
            <a:endParaRPr lang="en-GB">
              <a:ea typeface="+mn-lt"/>
              <a:cs typeface="+mn-lt"/>
            </a:endParaRPr>
          </a:p>
          <a:p>
            <a:pPr lvl="1" indent="-342900">
              <a:buFont typeface="Courier New" charset="2"/>
              <a:buChar char="o"/>
            </a:pPr>
            <a:r>
              <a:rPr lang="en-GB" b="1" dirty="0" err="1">
                <a:ea typeface="+mn-lt"/>
                <a:cs typeface="+mn-lt"/>
              </a:rPr>
              <a:t>Configurar</a:t>
            </a:r>
            <a:r>
              <a:rPr lang="en-GB" dirty="0">
                <a:ea typeface="+mn-lt"/>
                <a:cs typeface="+mn-lt"/>
              </a:rPr>
              <a:t> o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 do </a:t>
            </a:r>
            <a:r>
              <a:rPr lang="en-GB" b="1" dirty="0" err="1">
                <a:ea typeface="+mn-lt"/>
                <a:cs typeface="+mn-lt"/>
              </a:rPr>
              <a:t>lado</a:t>
            </a:r>
            <a:r>
              <a:rPr lang="en-GB" b="1" dirty="0">
                <a:ea typeface="+mn-lt"/>
                <a:cs typeface="+mn-lt"/>
              </a:rPr>
              <a:t> do </a:t>
            </a:r>
            <a:r>
              <a:rPr lang="en-GB" b="1" dirty="0" err="1">
                <a:ea typeface="+mn-lt"/>
                <a:cs typeface="+mn-lt"/>
              </a:rPr>
              <a:t>Cliente</a:t>
            </a:r>
            <a:r>
              <a:rPr lang="en-GB" dirty="0">
                <a:ea typeface="+mn-lt"/>
                <a:cs typeface="+mn-lt"/>
              </a:rPr>
              <a:t>; </a:t>
            </a:r>
          </a:p>
          <a:p>
            <a:pPr lvl="1" indent="-342900">
              <a:buFont typeface="Courier New" charset="2"/>
              <a:buChar char="o"/>
            </a:pPr>
            <a:r>
              <a:rPr lang="en-GB" b="1" dirty="0">
                <a:ea typeface="+mn-lt"/>
                <a:cs typeface="+mn-lt"/>
              </a:rPr>
              <a:t>Testar </a:t>
            </a:r>
            <a:r>
              <a:rPr lang="en-GB" b="1" dirty="0" err="1">
                <a:ea typeface="+mn-lt"/>
                <a:cs typeface="+mn-lt"/>
              </a:rPr>
              <a:t>Conexão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ao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Servidor</a:t>
            </a:r>
            <a:r>
              <a:rPr lang="en-GB" b="1" dirty="0">
                <a:ea typeface="+mn-lt"/>
                <a:cs typeface="+mn-lt"/>
              </a:rPr>
              <a:t> Minecraft - [ IP:192.168.0.1 ].</a:t>
            </a:r>
            <a:endParaRPr lang="en-GB" dirty="0">
              <a:ea typeface="+mn-lt"/>
              <a:cs typeface="+mn-lt"/>
            </a:endParaRPr>
          </a:p>
          <a:p>
            <a:pPr lvl="1" indent="-342900">
              <a:buFont typeface="Courier New" charset="2"/>
              <a:buChar char="o"/>
            </a:pPr>
            <a:endParaRPr lang="en-GB" dirty="0"/>
          </a:p>
          <a:p>
            <a:pPr marL="400050" lvl="1" indent="0">
              <a:buNone/>
            </a:pP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7DBC0D-0ECE-5D40-194D-C33A1AA197E0}"/>
              </a:ext>
            </a:extLst>
          </p:cNvPr>
          <p:cNvSpPr txBox="1">
            <a:spLocks/>
          </p:cNvSpPr>
          <p:nvPr/>
        </p:nvSpPr>
        <p:spPr>
          <a:xfrm>
            <a:off x="1158912" y="4843979"/>
            <a:ext cx="4407125" cy="20110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>
                <a:ea typeface="+mn-lt"/>
                <a:cs typeface="+mn-lt"/>
              </a:rPr>
              <a:t>Vão</a:t>
            </a:r>
            <a:r>
              <a:rPr lang="en-GB" dirty="0">
                <a:ea typeface="+mn-lt"/>
                <a:cs typeface="+mn-lt"/>
              </a:rPr>
              <a:t> ser </a:t>
            </a:r>
            <a:r>
              <a:rPr lang="en-GB" dirty="0" err="1">
                <a:ea typeface="+mn-lt"/>
                <a:cs typeface="+mn-lt"/>
              </a:rPr>
              <a:t>fornecidos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recursos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necessários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 err="1">
                <a:ea typeface="+mn-lt"/>
                <a:cs typeface="+mn-lt"/>
              </a:rPr>
              <a:t>assim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como</a:t>
            </a:r>
            <a:r>
              <a:rPr lang="en-GB" dirty="0">
                <a:ea typeface="+mn-lt"/>
                <a:cs typeface="+mn-lt"/>
              </a:rPr>
              <a:t>, o </a:t>
            </a:r>
            <a:r>
              <a:rPr lang="en-GB" b="1" dirty="0">
                <a:ea typeface="+mn-lt"/>
                <a:cs typeface="+mn-lt"/>
              </a:rPr>
              <a:t>'Guia de Laboratorio'</a:t>
            </a:r>
            <a:r>
              <a:rPr lang="en-GB" dirty="0">
                <a:ea typeface="+mn-lt"/>
                <a:cs typeface="+mn-lt"/>
              </a:rPr>
              <a:t> do </a:t>
            </a:r>
            <a:r>
              <a:rPr lang="en-GB" b="1" dirty="0" err="1">
                <a:ea typeface="+mn-lt"/>
                <a:cs typeface="+mn-lt"/>
              </a:rPr>
              <a:t>WireGuard</a:t>
            </a:r>
            <a:r>
              <a:rPr lang="en-GB" dirty="0">
                <a:ea typeface="+mn-lt"/>
                <a:cs typeface="+mn-lt"/>
              </a:rPr>
              <a:t> para a </a:t>
            </a:r>
            <a:r>
              <a:rPr lang="en-GB" b="1" dirty="0" err="1">
                <a:ea typeface="+mn-lt"/>
                <a:cs typeface="+mn-lt"/>
              </a:rPr>
              <a:t>realização</a:t>
            </a:r>
            <a:r>
              <a:rPr lang="en-GB" b="1" dirty="0">
                <a:ea typeface="+mn-lt"/>
                <a:cs typeface="+mn-lt"/>
              </a:rPr>
              <a:t> do </a:t>
            </a:r>
            <a:r>
              <a:rPr lang="en-GB" b="1" dirty="0" err="1">
                <a:ea typeface="+mn-lt"/>
                <a:cs typeface="+mn-lt"/>
              </a:rPr>
              <a:t>laboratório</a:t>
            </a:r>
            <a:r>
              <a:rPr lang="en-GB" b="1" dirty="0">
                <a:ea typeface="+mn-lt"/>
                <a:cs typeface="+mn-lt"/>
              </a:rPr>
              <a:t> </a:t>
            </a:r>
            <a:r>
              <a:rPr lang="en-GB" b="1" dirty="0" err="1">
                <a:ea typeface="+mn-lt"/>
                <a:cs typeface="+mn-lt"/>
              </a:rPr>
              <a:t>proposto</a:t>
            </a:r>
            <a:r>
              <a:rPr lang="en-GB" dirty="0">
                <a:ea typeface="+mn-lt"/>
                <a:cs typeface="+mn-lt"/>
              </a:rPr>
              <a:t>.</a:t>
            </a:r>
          </a:p>
          <a:p>
            <a:pPr lvl="1" indent="-342900">
              <a:buFont typeface="Courier New" charset="2"/>
              <a:buChar char="o"/>
            </a:pPr>
            <a:endParaRPr lang="en-GB" dirty="0"/>
          </a:p>
          <a:p>
            <a:pPr marL="400050" lvl="1" indent="0">
              <a:buFont typeface="Wingdings 3" charset="2"/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39A582-A547-62DE-72F1-0A43743CA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411" y="4309198"/>
            <a:ext cx="5667127" cy="2336594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41830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Ion Boardroom</vt:lpstr>
      <vt:lpstr>WireGuard 0826 – Redes - Instalação e Configuração</vt:lpstr>
      <vt:lpstr>Introdução </vt:lpstr>
      <vt:lpstr>O que é o WireGuard?</vt:lpstr>
      <vt:lpstr>Arquitetura</vt:lpstr>
      <vt:lpstr>Funcionamento</vt:lpstr>
      <vt:lpstr>Casos Uso e Vantagens</vt:lpstr>
      <vt:lpstr>Comparação com Alternativas</vt:lpstr>
      <vt:lpstr>Laboratório Realizado</vt:lpstr>
      <vt:lpstr>Laboratório Realizado</vt:lpstr>
      <vt:lpstr>Laboratório Realizado</vt:lpstr>
      <vt:lpstr>Laboratório Realizado</vt:lpstr>
      <vt:lpstr>Laboratório Realizado</vt:lpstr>
      <vt:lpstr>Conclusão</vt:lpstr>
      <vt:lpstr>QUIZ – O que é o WireGuard?</vt:lpstr>
      <vt:lpstr>Laboratório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420</cp:revision>
  <dcterms:created xsi:type="dcterms:W3CDTF">2026-01-11T20:05:51Z</dcterms:created>
  <dcterms:modified xsi:type="dcterms:W3CDTF">2026-01-13T09:26:57Z</dcterms:modified>
</cp:coreProperties>
</file>